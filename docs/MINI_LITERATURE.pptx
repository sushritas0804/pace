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png" ContentType="image/png"/>
  <Override PartName="/ppt/media/image2.png" ContentType="image/png"/>
  <Override PartName="/ppt/media/image3.png" ContentType="image/png"/>
  <Override PartName="/ppt/slides/slide1.xml" ContentType="application/vnd.openxmlformats-officedocument.presentationml.slide+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notesSlides/_rels/notesSlide4.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slides/slide13.xml" ContentType="application/vnd.openxmlformats-officedocument.presentationml.slide+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49" r:id="rId3"/>
    <p:sldMasterId id="214748365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8" r:id="rId19"/>
    <p:sldId id="267" r:id="rId17"/>
  </p:sldIdLst>
  <p:sldSz cx="12193588"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presProps" Target="presProps.xml"/>
  <Relationship Id="rId19" Type="http://schemas.openxmlformats.org/officeDocument/2006/relationships/slide" Target="slides/slide13.xml"/>
</Relationships>
</file>

<file path=ppt/notesMasters/_rels/notesMaster1.xml.rels><?xml version="1.0" encoding="UTF-8"?>
<Relationships xmlns="http://schemas.openxmlformats.org/package/2006/relationships"><Relationship Id="rId1" Type="http://schemas.openxmlformats.org/officeDocument/2006/relationships/theme" Target="../theme/theme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 name=""/>
          <p:cNvSpPr/>
          <p:nvPr/>
        </p:nvSpPr>
        <p:spPr>
          <a:xfrm>
            <a:off x="0" y="0"/>
            <a:ext cx="6858000" cy="91440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2" name="PlaceHolder 1"/>
          <p:cNvSpPr>
            <a:spLocks noGrp="1"/>
          </p:cNvSpPr>
          <p:nvPr>
            <p:ph type="hdr"/>
          </p:nvPr>
        </p:nvSpPr>
        <p:spPr>
          <a:xfrm>
            <a:off x="-360" y="0"/>
            <a:ext cx="2971800" cy="458640"/>
          </a:xfrm>
          <a:prstGeom prst="rect">
            <a:avLst/>
          </a:prstGeom>
          <a:noFill/>
          <a:ln w="0">
            <a:noFill/>
          </a:ln>
        </p:spPr>
        <p:txBody>
          <a:bodyPr lIns="90000" rIns="90000" tIns="46800" bIns="46800" anchor="t">
            <a:noAutofit/>
          </a:bodyPr>
          <a:p>
            <a:pPr indent="0">
              <a:buNone/>
            </a:pPr>
            <a:endParaRPr b="0" lang="en-US" sz="2400" spc="-1" strike="noStrike">
              <a:solidFill>
                <a:srgbClr val="000000"/>
              </a:solidFill>
              <a:latin typeface="Times New Roman"/>
            </a:endParaRPr>
          </a:p>
        </p:txBody>
      </p:sp>
      <p:sp>
        <p:nvSpPr>
          <p:cNvPr id="13" name="PlaceHolder 2"/>
          <p:cNvSpPr>
            <a:spLocks noGrp="1"/>
          </p:cNvSpPr>
          <p:nvPr>
            <p:ph type="dt" idx="6"/>
          </p:nvPr>
        </p:nvSpPr>
        <p:spPr>
          <a:xfrm>
            <a:off x="3884400" y="0"/>
            <a:ext cx="2971800" cy="458640"/>
          </a:xfrm>
          <a:prstGeom prst="rect">
            <a:avLst/>
          </a:prstGeom>
          <a:noFill/>
          <a:ln w="0">
            <a:noFill/>
          </a:ln>
        </p:spPr>
        <p:txBody>
          <a:bodyPr lIns="90000" rIns="90000" tIns="46800" bIns="46800" anchor="t">
            <a:noAutofit/>
          </a:bodyPr>
          <a:lstStyle>
            <a:lvl1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200" spc="-1" strike="noStrike">
                <a:solidFill>
                  <a:srgbClr val="000000"/>
                </a:solidFill>
                <a:latin typeface="Calibri"/>
              </a:defRPr>
            </a:lvl1pPr>
          </a:lstStyle>
          <a:p>
            <a: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pc="-1" strike="noStrike">
                <a:solidFill>
                  <a:srgbClr val="000000"/>
                </a:solidFill>
                <a:latin typeface="Calibri"/>
              </a:rPr>
              <a:t>&lt;date/time&gt;</a:t>
            </a:r>
            <a:endParaRPr b="0" lang="en-US" sz="1200" spc="-1" strike="noStrike">
              <a:solidFill>
                <a:srgbClr val="000000"/>
              </a:solidFill>
              <a:latin typeface="Times New Roman"/>
            </a:endParaRPr>
          </a:p>
        </p:txBody>
      </p:sp>
      <p:sp>
        <p:nvSpPr>
          <p:cNvPr id="14" name="PlaceHolder 3"/>
          <p:cNvSpPr>
            <a:spLocks noGrp="1"/>
          </p:cNvSpPr>
          <p:nvPr>
            <p:ph type="sldImg"/>
          </p:nvPr>
        </p:nvSpPr>
        <p:spPr>
          <a:xfrm>
            <a:off x="685800" y="1142640"/>
            <a:ext cx="5486400" cy="3086280"/>
          </a:xfrm>
          <a:prstGeom prst="rect">
            <a:avLst/>
          </a:prstGeom>
          <a:noFill/>
          <a:ln w="12600">
            <a:solidFill>
              <a:srgbClr val="000000"/>
            </a:solidFill>
            <a:miter/>
          </a:ln>
        </p:spPr>
        <p:txBody>
          <a:bodyPr lIns="90000" rIns="90000" tIns="46800" bIns="46800" anchor="ctr">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pc="-1" strike="noStrike">
                <a:solidFill>
                  <a:srgbClr val="000000"/>
                </a:solidFill>
                <a:latin typeface="Calibri Light"/>
              </a:rPr>
              <a:t>Click to move the slide</a:t>
            </a:r>
            <a:endParaRPr b="0" lang="en-US" sz="4400" spc="-1" strike="noStrike">
              <a:solidFill>
                <a:srgbClr val="000000"/>
              </a:solidFill>
              <a:latin typeface="Calibri Light"/>
            </a:endParaRPr>
          </a:p>
        </p:txBody>
      </p:sp>
      <p:sp>
        <p:nvSpPr>
          <p:cNvPr id="15" name="PlaceHolder 4"/>
          <p:cNvSpPr>
            <a:spLocks noGrp="1"/>
          </p:cNvSpPr>
          <p:nvPr>
            <p:ph type="body"/>
          </p:nvPr>
        </p:nvSpPr>
        <p:spPr>
          <a:xfrm>
            <a:off x="685800" y="4400280"/>
            <a:ext cx="5486400" cy="360036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Calibri"/>
              </a:rPr>
              <a:t>Click to edit the notes format</a:t>
            </a:r>
            <a:endParaRPr b="0" lang="en-US" sz="1200" spc="-1" strike="noStrike">
              <a:solidFill>
                <a:srgbClr val="000000"/>
              </a:solidFill>
              <a:latin typeface="Calibri"/>
            </a:endParaRPr>
          </a:p>
        </p:txBody>
      </p:sp>
      <p:sp>
        <p:nvSpPr>
          <p:cNvPr id="16" name="PlaceHolder 5"/>
          <p:cNvSpPr>
            <a:spLocks noGrp="1"/>
          </p:cNvSpPr>
          <p:nvPr>
            <p:ph type="ftr" idx="7"/>
          </p:nvPr>
        </p:nvSpPr>
        <p:spPr>
          <a:xfrm>
            <a:off x="-360" y="8685360"/>
            <a:ext cx="2971800" cy="458640"/>
          </a:xfrm>
          <a:prstGeom prst="rect">
            <a:avLst/>
          </a:prstGeom>
          <a:noFill/>
          <a:ln w="0">
            <a:noFill/>
          </a:ln>
        </p:spPr>
        <p:txBody>
          <a:bodyPr lIns="90000" rIns="90000" tIns="46800" bIns="46800" anchor="b">
            <a:noAutofit/>
          </a:bodyPr>
          <a:lstStyle>
            <a:lvl1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200" spc="-1" strike="noStrike">
                <a:solidFill>
                  <a:srgbClr val="000000"/>
                </a:solidFill>
                <a:latin typeface="Calibri"/>
              </a:defRPr>
            </a:lvl1pPr>
          </a:lstStyle>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pc="-1" strike="noStrike">
                <a:solidFill>
                  <a:srgbClr val="000000"/>
                </a:solidFill>
                <a:latin typeface="Calibri"/>
              </a:rPr>
              <a:t>Dept. of CSE, GAT                                           2017-18</a:t>
            </a:r>
            <a:endParaRPr b="0" lang="en-US" sz="1200" spc="-1" strike="noStrike">
              <a:solidFill>
                <a:srgbClr val="000000"/>
              </a:solidFill>
              <a:latin typeface="Times New Roman"/>
            </a:endParaRPr>
          </a:p>
        </p:txBody>
      </p:sp>
      <p:sp>
        <p:nvSpPr>
          <p:cNvPr id="17" name="PlaceHolder 6"/>
          <p:cNvSpPr>
            <a:spLocks noGrp="1"/>
          </p:cNvSpPr>
          <p:nvPr>
            <p:ph type="sldNum" idx="8"/>
          </p:nvPr>
        </p:nvSpPr>
        <p:spPr>
          <a:xfrm>
            <a:off x="3884400" y="8685360"/>
            <a:ext cx="2971800" cy="458640"/>
          </a:xfrm>
          <a:prstGeom prst="rect">
            <a:avLst/>
          </a:prstGeom>
          <a:noFill/>
          <a:ln w="0">
            <a:noFill/>
          </a:ln>
        </p:spPr>
        <p:txBody>
          <a:bodyPr lIns="90000" rIns="90000" tIns="46800" bIns="46800" anchor="b">
            <a:noAutofit/>
          </a:bodyPr>
          <a:lstStyle>
            <a:lvl1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200" spc="-1" strike="noStrike">
                <a:solidFill>
                  <a:srgbClr val="000000"/>
                </a:solidFill>
                <a:latin typeface="Calibri"/>
              </a:defRPr>
            </a:lvl1pPr>
          </a:lstStyle>
          <a:p>
            <a: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B461B4C-4250-47CB-8C29-16DFD2E22580}" type="slidenum">
              <a:rPr b="0" lang="en-IN" sz="1200" spc="-1" strike="noStrike">
                <a:solidFill>
                  <a:srgbClr val="000000"/>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 name="PlaceHolder 1"/>
          <p:cNvSpPr>
            <a:spLocks noGrp="1"/>
          </p:cNvSpPr>
          <p:nvPr>
            <p:ph type="sldImg"/>
          </p:nvPr>
        </p:nvSpPr>
        <p:spPr>
          <a:xfrm>
            <a:off x="685800" y="1143000"/>
            <a:ext cx="5486400" cy="3086280"/>
          </a:xfrm>
          <a:prstGeom prst="rect">
            <a:avLst/>
          </a:prstGeom>
          <a:ln w="0">
            <a:noFill/>
          </a:ln>
        </p:spPr>
      </p:sp>
      <p:sp>
        <p:nvSpPr>
          <p:cNvPr id="64" name="PlaceHolder 2"/>
          <p:cNvSpPr>
            <a:spLocks noGrp="1"/>
          </p:cNvSpPr>
          <p:nvPr>
            <p:ph type="body"/>
          </p:nvPr>
        </p:nvSpPr>
        <p:spPr>
          <a:xfrm>
            <a:off x="685800" y="4400280"/>
            <a:ext cx="5486400" cy="360036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pc="-1" strike="noStrike">
              <a:solidFill>
                <a:srgbClr val="000000"/>
              </a:solidFill>
              <a:latin typeface="Calibri"/>
            </a:endParaRPr>
          </a:p>
        </p:txBody>
      </p:sp>
      <p:sp>
        <p:nvSpPr>
          <p:cNvPr id="65" name="Slide Number Placeholder 3"/>
          <p:cNvSpPr/>
          <p:nvPr/>
        </p:nvSpPr>
        <p:spPr>
          <a:xfrm>
            <a:off x="3884760" y="8685360"/>
            <a:ext cx="2971800" cy="45864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4541E36-0F2A-4126-83ED-41005AA96978}" type="slidenum">
              <a:rPr b="0" lang="en-IN" sz="1200" spc="-1" strike="noStrike">
                <a:solidFill>
                  <a:srgbClr val="000000"/>
                </a:solidFill>
                <a:latin typeface="Calibri"/>
              </a:rPr>
              <a:t>&lt;number&gt;</a:t>
            </a:fld>
            <a:endParaRPr b="0" lang="en-US" sz="1200" spc="-1" strike="noStrike">
              <a:solidFill>
                <a:srgbClr val="000000"/>
              </a:solidFill>
              <a:latin typeface="Arial"/>
            </a:endParaRPr>
          </a:p>
        </p:txBody>
      </p:sp>
      <p:sp>
        <p:nvSpPr>
          <p:cNvPr id="66" name="Footer Placeholder 4"/>
          <p:cNvSpPr/>
          <p:nvPr/>
        </p:nvSpPr>
        <p:spPr>
          <a:xfrm>
            <a:off x="0" y="8685360"/>
            <a:ext cx="2971800" cy="45864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pc="-1" strike="noStrike">
                <a:solidFill>
                  <a:srgbClr val="000000"/>
                </a:solidFill>
                <a:latin typeface="Calibri"/>
              </a:rPr>
              <a:t>Dept. of CSE, GAT                                           2017-18</a:t>
            </a:r>
            <a:endParaRPr b="0" lang="en-US" sz="1200" spc="-1" strike="noStrike">
              <a:solidFill>
                <a:srgbClr val="000000"/>
              </a:solidFill>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PlaceHolder 1"/>
          <p:cNvSpPr>
            <a:spLocks noGrp="1"/>
          </p:cNvSpPr>
          <p:nvPr>
            <p:ph type="sldImg"/>
          </p:nvPr>
        </p:nvSpPr>
        <p:spPr>
          <a:xfrm>
            <a:off x="685800" y="1143000"/>
            <a:ext cx="5486400" cy="3086280"/>
          </a:xfrm>
          <a:prstGeom prst="rect">
            <a:avLst/>
          </a:prstGeom>
          <a:ln w="0">
            <a:noFill/>
          </a:ln>
        </p:spPr>
      </p:sp>
      <p:sp>
        <p:nvSpPr>
          <p:cNvPr id="68" name="PlaceHolder 2"/>
          <p:cNvSpPr>
            <a:spLocks noGrp="1"/>
          </p:cNvSpPr>
          <p:nvPr>
            <p:ph type="body"/>
          </p:nvPr>
        </p:nvSpPr>
        <p:spPr>
          <a:xfrm>
            <a:off x="685800" y="4400280"/>
            <a:ext cx="5486400" cy="360036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pc="-1" strike="noStrike">
              <a:solidFill>
                <a:srgbClr val="000000"/>
              </a:solidFill>
              <a:latin typeface="Calibri"/>
            </a:endParaRPr>
          </a:p>
        </p:txBody>
      </p:sp>
      <p:sp>
        <p:nvSpPr>
          <p:cNvPr id="69" name="Slide Number Placeholder 3"/>
          <p:cNvSpPr/>
          <p:nvPr/>
        </p:nvSpPr>
        <p:spPr>
          <a:xfrm>
            <a:off x="3884760" y="8685360"/>
            <a:ext cx="2971800" cy="45864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99B40B9-C14F-482B-9A3D-8C66544A2097}" type="slidenum">
              <a:rPr b="0" lang="en-IN" sz="1200" spc="-1" strike="noStrike">
                <a:solidFill>
                  <a:srgbClr val="000000"/>
                </a:solidFill>
                <a:latin typeface="Calibri"/>
              </a:rPr>
              <a:t>&lt;number&gt;</a:t>
            </a:fld>
            <a:endParaRPr b="0" lang="en-US" sz="1200" spc="-1" strike="noStrike">
              <a:solidFill>
                <a:srgbClr val="000000"/>
              </a:solidFill>
              <a:latin typeface="Arial"/>
            </a:endParaRPr>
          </a:p>
        </p:txBody>
      </p:sp>
      <p:sp>
        <p:nvSpPr>
          <p:cNvPr id="70" name="Footer Placeholder 4"/>
          <p:cNvSpPr/>
          <p:nvPr/>
        </p:nvSpPr>
        <p:spPr>
          <a:xfrm>
            <a:off x="0" y="8685360"/>
            <a:ext cx="2971800" cy="45864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pc="-1" strike="noStrike">
                <a:solidFill>
                  <a:srgbClr val="000000"/>
                </a:solidFill>
                <a:latin typeface="Calibri"/>
              </a:rPr>
              <a:t>Dept. of CSE, GAT                                           2017-18</a:t>
            </a:r>
            <a:endParaRPr b="0" lang="en-US" sz="1200" spc="-1" strike="noStrike">
              <a:solidFill>
                <a:srgbClr val="000000"/>
              </a:solidFill>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PlaceHolder 1"/>
          <p:cNvSpPr>
            <a:spLocks noGrp="1"/>
          </p:cNvSpPr>
          <p:nvPr>
            <p:ph type="sldImg"/>
          </p:nvPr>
        </p:nvSpPr>
        <p:spPr>
          <a:xfrm>
            <a:off x="685800" y="1143000"/>
            <a:ext cx="5486400" cy="3086280"/>
          </a:xfrm>
          <a:prstGeom prst="rect">
            <a:avLst/>
          </a:prstGeom>
          <a:ln w="0">
            <a:noFill/>
          </a:ln>
        </p:spPr>
      </p:sp>
      <p:sp>
        <p:nvSpPr>
          <p:cNvPr id="72" name="PlaceHolder 2"/>
          <p:cNvSpPr>
            <a:spLocks noGrp="1"/>
          </p:cNvSpPr>
          <p:nvPr>
            <p:ph type="body"/>
          </p:nvPr>
        </p:nvSpPr>
        <p:spPr>
          <a:xfrm>
            <a:off x="685800" y="4400280"/>
            <a:ext cx="5486400" cy="360036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Calibri"/>
            </a:endParaRPr>
          </a:p>
        </p:txBody>
      </p:sp>
      <p:sp>
        <p:nvSpPr>
          <p:cNvPr id="73" name="Footer Placeholder 3"/>
          <p:cNvSpPr/>
          <p:nvPr/>
        </p:nvSpPr>
        <p:spPr>
          <a:xfrm>
            <a:off x="0" y="8685360"/>
            <a:ext cx="2971800" cy="45864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pc="-1" strike="noStrike">
                <a:solidFill>
                  <a:srgbClr val="000000"/>
                </a:solidFill>
                <a:latin typeface="Calibri"/>
              </a:rPr>
              <a:t>Dept. of CSE, GAT                                           2017-18</a:t>
            </a:r>
            <a:endParaRPr b="0" lang="en-US" sz="1200" spc="-1" strike="noStrike">
              <a:solidFill>
                <a:srgbClr val="000000"/>
              </a:solidFill>
              <a:latin typeface="Arial"/>
            </a:endParaRPr>
          </a:p>
        </p:txBody>
      </p:sp>
      <p:sp>
        <p:nvSpPr>
          <p:cNvPr id="74" name="Slide Number Placeholder 4"/>
          <p:cNvSpPr/>
          <p:nvPr/>
        </p:nvSpPr>
        <p:spPr>
          <a:xfrm>
            <a:off x="3884760" y="8685360"/>
            <a:ext cx="2971800" cy="45864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032514B-9B0F-4C4F-98E2-AA567445A6A3}" type="slidenum">
              <a:rPr b="0" lang="en-IN" sz="1200" spc="-1" strike="noStrike">
                <a:solidFill>
                  <a:srgbClr val="000000"/>
                </a:solidFill>
                <a:latin typeface="Calibri"/>
              </a:rPr>
              <a:t>&lt;number&gt;</a:t>
            </a:fld>
            <a:endParaRPr b="0" lang="en-US" sz="1200" spc="-1" strike="noStrike">
              <a:solidFill>
                <a:srgbClr val="000000"/>
              </a:solidFill>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1">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2">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A1AB2FED-10BF-46E2-A449-C984E763C70A}"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838080" y="365040"/>
            <a:ext cx="10515600" cy="1325520"/>
          </a:xfrm>
          <a:prstGeom prst="rect">
            <a:avLst/>
          </a:prstGeom>
          <a:noFill/>
          <a:ln w="0">
            <a:noFill/>
          </a:ln>
        </p:spPr>
        <p:txBody>
          <a:bodyPr lIns="90000" rIns="90000" tIns="46800" bIns="46800" anchor="ctr">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pc="-1" strike="noStrike">
                <a:solidFill>
                  <a:srgbClr val="000000"/>
                </a:solidFill>
                <a:latin typeface="Calibri Light"/>
              </a:rPr>
              <a:t>Click to edit the title text format</a:t>
            </a:r>
            <a:endParaRPr b="0" lang="en-US" sz="4400" spc="-1" strike="noStrike">
              <a:solidFill>
                <a:srgbClr val="000000"/>
              </a:solidFill>
              <a:latin typeface="Calibri Light"/>
            </a:endParaRPr>
          </a:p>
        </p:txBody>
      </p:sp>
      <p:sp>
        <p:nvSpPr>
          <p:cNvPr id="1" name="PlaceHolder 2"/>
          <p:cNvSpPr>
            <a:spLocks noGrp="1"/>
          </p:cNvSpPr>
          <p:nvPr>
            <p:ph type="body"/>
          </p:nvPr>
        </p:nvSpPr>
        <p:spPr>
          <a:xfrm>
            <a:off x="838080" y="1825200"/>
            <a:ext cx="10515600" cy="4351320"/>
          </a:xfrm>
          <a:prstGeom prst="rect">
            <a:avLst/>
          </a:prstGeom>
          <a:noFill/>
          <a:ln w="0">
            <a:noFill/>
          </a:ln>
        </p:spPr>
        <p:txBody>
          <a:bodyPr lIns="90000" rIns="90000" tIns="46800" bIns="46800" anchor="t">
            <a:normAutofit/>
          </a:bodyPr>
          <a:p>
            <a:pPr marL="228600" indent="-228600">
              <a:lnSpc>
                <a:spcPct val="9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000000"/>
                </a:solidFill>
                <a:latin typeface="Calibri"/>
              </a:rPr>
              <a:t>Click to edit the outline text format</a:t>
            </a:r>
            <a:endParaRPr b="0" lang="en-US" sz="2800" spc="-1" strike="noStrike">
              <a:solidFill>
                <a:srgbClr val="000000"/>
              </a:solidFill>
              <a:latin typeface="Calibri"/>
            </a:endParaRPr>
          </a:p>
          <a:p>
            <a:pPr lvl="1" marL="685800" indent="-228600">
              <a:lnSpc>
                <a:spcPct val="9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000000"/>
                </a:solidFill>
                <a:latin typeface="Calibri"/>
              </a:rPr>
              <a:t>Second Outline Level</a:t>
            </a:r>
            <a:endParaRPr b="0" lang="en-US" sz="2800" spc="-1" strike="noStrike">
              <a:solidFill>
                <a:srgbClr val="000000"/>
              </a:solidFill>
              <a:latin typeface="Calibri"/>
            </a:endParaRPr>
          </a:p>
          <a:p>
            <a:pPr lvl="2" marL="1143000" indent="-228600">
              <a:lnSpc>
                <a:spcPct val="9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000000"/>
                </a:solidFill>
                <a:latin typeface="Calibri"/>
              </a:rPr>
              <a:t>Third Outline Level</a:t>
            </a:r>
            <a:endParaRPr b="0" lang="en-US" sz="2800" spc="-1" strike="noStrike">
              <a:solidFill>
                <a:srgbClr val="000000"/>
              </a:solidFill>
              <a:latin typeface="Calibri"/>
            </a:endParaRPr>
          </a:p>
          <a:p>
            <a:pPr lvl="3" marL="1600200" indent="-228600">
              <a:lnSpc>
                <a:spcPct val="9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000000"/>
                </a:solidFill>
                <a:latin typeface="Calibri"/>
              </a:rPr>
              <a:t>Fourth Outline Level</a:t>
            </a:r>
            <a:endParaRPr b="0" lang="en-US" sz="2800" spc="-1" strike="noStrike">
              <a:solidFill>
                <a:srgbClr val="000000"/>
              </a:solidFill>
              <a:latin typeface="Calibri"/>
            </a:endParaRPr>
          </a:p>
          <a:p>
            <a:pPr lvl="4" marL="2057400" indent="-228600">
              <a:lnSpc>
                <a:spcPct val="9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000000"/>
                </a:solidFill>
                <a:latin typeface="Calibri"/>
              </a:rPr>
              <a:t>Fifth Outline Level</a:t>
            </a:r>
            <a:endParaRPr b="0" lang="en-US" sz="2800" spc="-1" strike="noStrike">
              <a:solidFill>
                <a:srgbClr val="000000"/>
              </a:solidFill>
              <a:latin typeface="Calibri"/>
            </a:endParaRPr>
          </a:p>
          <a:p>
            <a:pPr lvl="5" marL="2057400" indent="-228600">
              <a:lnSpc>
                <a:spcPct val="9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000000"/>
                </a:solidFill>
                <a:latin typeface="Calibri"/>
              </a:rPr>
              <a:t>Sixth Outline Level</a:t>
            </a:r>
            <a:endParaRPr b="0" lang="en-US" sz="2800" spc="-1" strike="noStrike">
              <a:solidFill>
                <a:srgbClr val="000000"/>
              </a:solidFill>
              <a:latin typeface="Calibri"/>
            </a:endParaRPr>
          </a:p>
          <a:p>
            <a:pPr lvl="6" marL="2057400" indent="-228600">
              <a:lnSpc>
                <a:spcPct val="9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000000"/>
                </a:solidFill>
                <a:latin typeface="Calibri"/>
              </a:rPr>
              <a:t>Seventh Outline Level</a:t>
            </a:r>
            <a:endParaRPr b="0" lang="en-US" sz="2800" spc="-1" strike="noStrike">
              <a:solidFill>
                <a:srgbClr val="000000"/>
              </a:solidFill>
              <a:latin typeface="Calibri"/>
            </a:endParaRPr>
          </a:p>
        </p:txBody>
      </p:sp>
      <p:sp>
        <p:nvSpPr>
          <p:cNvPr id="2" name="PlaceHolder 3"/>
          <p:cNvSpPr>
            <a:spLocks noGrp="1"/>
          </p:cNvSpPr>
          <p:nvPr>
            <p:ph type="dt" idx="1"/>
          </p:nvPr>
        </p:nvSpPr>
        <p:spPr>
          <a:xfrm>
            <a:off x="838080" y="6356520"/>
            <a:ext cx="2743200" cy="365040"/>
          </a:xfrm>
          <a:prstGeom prst="rect">
            <a:avLst/>
          </a:prstGeom>
          <a:noFill/>
          <a:ln w="0">
            <a:noFill/>
          </a:ln>
        </p:spPr>
        <p:txBody>
          <a:bodyPr lIns="90000" rIns="90000" tIns="46800" bIns="4680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p:txBody>
      </p:sp>
      <p:sp>
        <p:nvSpPr>
          <p:cNvPr id="3" name="PlaceHolder 4"/>
          <p:cNvSpPr>
            <a:spLocks noGrp="1"/>
          </p:cNvSpPr>
          <p:nvPr>
            <p:ph type="ftr" idx="2"/>
          </p:nvPr>
        </p:nvSpPr>
        <p:spPr>
          <a:xfrm>
            <a:off x="4038480" y="6356520"/>
            <a:ext cx="4114800" cy="365040"/>
          </a:xfrm>
          <a:prstGeom prst="rect">
            <a:avLst/>
          </a:prstGeom>
          <a:noFill/>
          <a:ln w="0">
            <a:noFill/>
          </a:ln>
        </p:spPr>
        <p:txBody>
          <a:bodyPr lIns="90000" rIns="90000" tIns="46800" bIns="46800" anchor="ctr">
            <a:noAutofit/>
          </a:bodyPr>
          <a:lstStyle>
            <a:lvl1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pc="-1" strike="noStrike">
                <a:solidFill>
                  <a:srgbClr val="898989"/>
                </a:solidFill>
                <a:latin typeface="Calibri"/>
              </a:defRPr>
            </a:lvl1pPr>
          </a:lstStyle>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898989"/>
                </a:solidFill>
                <a:latin typeface="Calibri"/>
              </a:rPr>
              <a:t>Dept of CSE,GAT                     2021-22                                                                                                           </a:t>
            </a:r>
            <a:endParaRPr b="0" lang="en-US" sz="1200" spc="-1" strike="noStrike">
              <a:solidFill>
                <a:srgbClr val="000000"/>
              </a:solidFill>
              <a:latin typeface="Times New Roman"/>
            </a:endParaRPr>
          </a:p>
        </p:txBody>
      </p:sp>
      <p:sp>
        <p:nvSpPr>
          <p:cNvPr id="4" name="PlaceHolder 5"/>
          <p:cNvSpPr>
            <a:spLocks noGrp="1"/>
          </p:cNvSpPr>
          <p:nvPr>
            <p:ph type="sldNum" idx="3"/>
          </p:nvPr>
        </p:nvSpPr>
        <p:spPr>
          <a:xfrm>
            <a:off x="8610480" y="6356520"/>
            <a:ext cx="2743200" cy="365040"/>
          </a:xfrm>
          <a:prstGeom prst="rect">
            <a:avLst/>
          </a:prstGeom>
          <a:noFill/>
          <a:ln w="0">
            <a:noFill/>
          </a:ln>
        </p:spPr>
        <p:txBody>
          <a:bodyPr lIns="90000" rIns="90000" tIns="46800" bIns="46800" anchor="ctr">
            <a:noAutofit/>
          </a:bodyPr>
          <a:lstStyle>
            <a:lvl1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200" spc="-1" strike="noStrike">
                <a:solidFill>
                  <a:srgbClr val="898989"/>
                </a:solidFill>
                <a:latin typeface="Calibri"/>
              </a:defRPr>
            </a:lvl1pPr>
          </a:lstStyle>
          <a:p>
            <a: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94B3353-F2C5-43CF-8766-C8028EDA0947}" type="slidenum">
              <a:rPr b="0" lang="en-IN" sz="1200" spc="-1" strike="noStrike">
                <a:solidFill>
                  <a:srgbClr val="898989"/>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5600" cy="1325520"/>
          </a:xfrm>
          <a:prstGeom prst="rect">
            <a:avLst/>
          </a:prstGeom>
          <a:noFill/>
          <a:ln w="0">
            <a:noFill/>
          </a:ln>
        </p:spPr>
        <p:txBody>
          <a:bodyPr lIns="90000" rIns="90000" tIns="46800" bIns="46800" anchor="ctr">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pc="-1" strike="noStrike">
                <a:solidFill>
                  <a:srgbClr val="000000"/>
                </a:solidFill>
                <a:latin typeface="Calibri Light"/>
              </a:rPr>
              <a:t>Click to edit the title text format</a:t>
            </a:r>
            <a:endParaRPr b="0" lang="en-US" sz="4400" spc="-1" strike="noStrike">
              <a:solidFill>
                <a:srgbClr val="000000"/>
              </a:solidFill>
              <a:latin typeface="Calibri Light"/>
            </a:endParaRPr>
          </a:p>
        </p:txBody>
      </p:sp>
      <p:sp>
        <p:nvSpPr>
          <p:cNvPr id="6" name="PlaceHolder 2"/>
          <p:cNvSpPr>
            <a:spLocks noGrp="1"/>
          </p:cNvSpPr>
          <p:nvPr>
            <p:ph type="body"/>
          </p:nvPr>
        </p:nvSpPr>
        <p:spPr>
          <a:xfrm>
            <a:off x="838080" y="1825200"/>
            <a:ext cx="10515600" cy="4351320"/>
          </a:xfrm>
          <a:prstGeom prst="rect">
            <a:avLst/>
          </a:prstGeom>
          <a:noFill/>
          <a:ln w="0">
            <a:noFill/>
          </a:ln>
        </p:spPr>
        <p:txBody>
          <a:bodyPr lIns="90000" rIns="90000" tIns="46800" bIns="46800" anchor="t">
            <a:normAutofit/>
          </a:bodyPr>
          <a:p>
            <a:pPr marL="228600" indent="-228600">
              <a:lnSpc>
                <a:spcPct val="9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000000"/>
                </a:solidFill>
                <a:latin typeface="Calibri"/>
              </a:rPr>
              <a:t>Click to edit the outline text format</a:t>
            </a:r>
            <a:endParaRPr b="0" lang="en-US" sz="2800" spc="-1" strike="noStrike">
              <a:solidFill>
                <a:srgbClr val="000000"/>
              </a:solidFill>
              <a:latin typeface="Calibri"/>
            </a:endParaRPr>
          </a:p>
          <a:p>
            <a:pPr lvl="1" marL="685800" indent="-228600">
              <a:lnSpc>
                <a:spcPct val="9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000000"/>
                </a:solidFill>
                <a:latin typeface="Calibri"/>
              </a:rPr>
              <a:t>Second Outline Level</a:t>
            </a:r>
            <a:endParaRPr b="0" lang="en-US" sz="2800" spc="-1" strike="noStrike">
              <a:solidFill>
                <a:srgbClr val="000000"/>
              </a:solidFill>
              <a:latin typeface="Calibri"/>
            </a:endParaRPr>
          </a:p>
          <a:p>
            <a:pPr lvl="2" marL="1143000" indent="-228600">
              <a:lnSpc>
                <a:spcPct val="9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000000"/>
                </a:solidFill>
                <a:latin typeface="Calibri"/>
              </a:rPr>
              <a:t>Third Outline Level</a:t>
            </a:r>
            <a:endParaRPr b="0" lang="en-US" sz="2800" spc="-1" strike="noStrike">
              <a:solidFill>
                <a:srgbClr val="000000"/>
              </a:solidFill>
              <a:latin typeface="Calibri"/>
            </a:endParaRPr>
          </a:p>
          <a:p>
            <a:pPr lvl="3" marL="1600200" indent="-228600">
              <a:lnSpc>
                <a:spcPct val="9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000000"/>
                </a:solidFill>
                <a:latin typeface="Calibri"/>
              </a:rPr>
              <a:t>Fourth Outline Level</a:t>
            </a:r>
            <a:endParaRPr b="0" lang="en-US" sz="2800" spc="-1" strike="noStrike">
              <a:solidFill>
                <a:srgbClr val="000000"/>
              </a:solidFill>
              <a:latin typeface="Calibri"/>
            </a:endParaRPr>
          </a:p>
          <a:p>
            <a:pPr lvl="4" marL="2057400" indent="-228600">
              <a:lnSpc>
                <a:spcPct val="9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000000"/>
                </a:solidFill>
                <a:latin typeface="Calibri"/>
              </a:rPr>
              <a:t>Fifth Outline Level</a:t>
            </a:r>
            <a:endParaRPr b="0" lang="en-US" sz="2800" spc="-1" strike="noStrike">
              <a:solidFill>
                <a:srgbClr val="000000"/>
              </a:solidFill>
              <a:latin typeface="Calibri"/>
            </a:endParaRPr>
          </a:p>
          <a:p>
            <a:pPr lvl="5" marL="2057400" indent="-228600">
              <a:lnSpc>
                <a:spcPct val="9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000000"/>
                </a:solidFill>
                <a:latin typeface="Calibri"/>
              </a:rPr>
              <a:t>Sixth Outline Level</a:t>
            </a:r>
            <a:endParaRPr b="0" lang="en-US" sz="2800" spc="-1" strike="noStrike">
              <a:solidFill>
                <a:srgbClr val="000000"/>
              </a:solidFill>
              <a:latin typeface="Calibri"/>
            </a:endParaRPr>
          </a:p>
          <a:p>
            <a:pPr lvl="6" marL="2057400" indent="-228600">
              <a:lnSpc>
                <a:spcPct val="9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000000"/>
                </a:solidFill>
                <a:latin typeface="Calibri"/>
              </a:rPr>
              <a:t>Seventh Outline Level</a:t>
            </a:r>
            <a:endParaRPr b="0" lang="en-US" sz="2800" spc="-1" strike="noStrike">
              <a:solidFill>
                <a:srgbClr val="000000"/>
              </a:solidFill>
              <a:latin typeface="Calibri"/>
            </a:endParaRPr>
          </a:p>
        </p:txBody>
      </p:sp>
    </p:spTree>
  </p:cSld>
  <p:clrMap bg1="lt1" bg2="lt2" tx1="dk1" tx2="dk2" accent1="accent1" accent2="accent2" accent3="accent3" accent4="accent4" accent5="accent5" accent6="accent6" hlink="hlink" folHlink="folHlink"/>
  <p:sldLayoutIdLst>
    <p:sldLayoutId id="2147483650"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5600" cy="1325520"/>
          </a:xfrm>
          <a:prstGeom prst="rect">
            <a:avLst/>
          </a:prstGeom>
          <a:noFill/>
          <a:ln w="0">
            <a:noFill/>
          </a:ln>
        </p:spPr>
        <p:txBody>
          <a:bodyPr lIns="90000" rIns="90000" tIns="46800" bIns="46800" anchor="ctr">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pc="-1" strike="noStrike">
                <a:solidFill>
                  <a:srgbClr val="000000"/>
                </a:solidFill>
                <a:latin typeface="Calibri Light"/>
              </a:rPr>
              <a:t>Click to edit the title text format</a:t>
            </a:r>
            <a:endParaRPr b="0" lang="en-US" sz="4400" spc="-1" strike="noStrike">
              <a:solidFill>
                <a:srgbClr val="000000"/>
              </a:solidFill>
              <a:latin typeface="Calibri Light"/>
            </a:endParaRPr>
          </a:p>
        </p:txBody>
      </p:sp>
      <p:sp>
        <p:nvSpPr>
          <p:cNvPr id="8" name="PlaceHolder 2"/>
          <p:cNvSpPr>
            <a:spLocks noGrp="1"/>
          </p:cNvSpPr>
          <p:nvPr>
            <p:ph type="body"/>
          </p:nvPr>
        </p:nvSpPr>
        <p:spPr>
          <a:xfrm>
            <a:off x="838080" y="1825200"/>
            <a:ext cx="10515600" cy="4351320"/>
          </a:xfrm>
          <a:prstGeom prst="rect">
            <a:avLst/>
          </a:prstGeom>
          <a:noFill/>
          <a:ln w="0">
            <a:noFill/>
          </a:ln>
        </p:spPr>
        <p:txBody>
          <a:bodyPr lIns="90000" rIns="90000" tIns="46800" bIns="46800" anchor="t">
            <a:normAutofit/>
          </a:bodyPr>
          <a:p>
            <a:pPr marL="228600" indent="-228600">
              <a:lnSpc>
                <a:spcPct val="9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000000"/>
                </a:solidFill>
                <a:latin typeface="Calibri"/>
              </a:rPr>
              <a:t>Click to edit the outline text format</a:t>
            </a:r>
            <a:endParaRPr b="0" lang="en-US" sz="2800" spc="-1" strike="noStrike">
              <a:solidFill>
                <a:srgbClr val="000000"/>
              </a:solidFill>
              <a:latin typeface="Calibri"/>
            </a:endParaRPr>
          </a:p>
          <a:p>
            <a:pPr lvl="1" marL="685800" indent="-228600">
              <a:lnSpc>
                <a:spcPct val="9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000000"/>
                </a:solidFill>
                <a:latin typeface="Calibri"/>
              </a:rPr>
              <a:t>Second Outline Level</a:t>
            </a:r>
            <a:endParaRPr b="0" lang="en-US" sz="2800" spc="-1" strike="noStrike">
              <a:solidFill>
                <a:srgbClr val="000000"/>
              </a:solidFill>
              <a:latin typeface="Calibri"/>
            </a:endParaRPr>
          </a:p>
          <a:p>
            <a:pPr lvl="2" marL="1143000" indent="-228600">
              <a:lnSpc>
                <a:spcPct val="9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000000"/>
                </a:solidFill>
                <a:latin typeface="Calibri"/>
              </a:rPr>
              <a:t>Third Outline Level</a:t>
            </a:r>
            <a:endParaRPr b="0" lang="en-US" sz="2800" spc="-1" strike="noStrike">
              <a:solidFill>
                <a:srgbClr val="000000"/>
              </a:solidFill>
              <a:latin typeface="Calibri"/>
            </a:endParaRPr>
          </a:p>
          <a:p>
            <a:pPr lvl="3" marL="1600200" indent="-228600">
              <a:lnSpc>
                <a:spcPct val="9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000000"/>
                </a:solidFill>
                <a:latin typeface="Calibri"/>
              </a:rPr>
              <a:t>Fourth Outline Level</a:t>
            </a:r>
            <a:endParaRPr b="0" lang="en-US" sz="2800" spc="-1" strike="noStrike">
              <a:solidFill>
                <a:srgbClr val="000000"/>
              </a:solidFill>
              <a:latin typeface="Calibri"/>
            </a:endParaRPr>
          </a:p>
          <a:p>
            <a:pPr lvl="4" marL="2057400" indent="-228600">
              <a:lnSpc>
                <a:spcPct val="9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000000"/>
                </a:solidFill>
                <a:latin typeface="Calibri"/>
              </a:rPr>
              <a:t>Fifth Outline Level</a:t>
            </a:r>
            <a:endParaRPr b="0" lang="en-US" sz="2800" spc="-1" strike="noStrike">
              <a:solidFill>
                <a:srgbClr val="000000"/>
              </a:solidFill>
              <a:latin typeface="Calibri"/>
            </a:endParaRPr>
          </a:p>
          <a:p>
            <a:pPr lvl="5" marL="2057400" indent="-228600">
              <a:lnSpc>
                <a:spcPct val="9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000000"/>
                </a:solidFill>
                <a:latin typeface="Calibri"/>
              </a:rPr>
              <a:t>Sixth Outline Level</a:t>
            </a:r>
            <a:endParaRPr b="0" lang="en-US" sz="2800" spc="-1" strike="noStrike">
              <a:solidFill>
                <a:srgbClr val="000000"/>
              </a:solidFill>
              <a:latin typeface="Calibri"/>
            </a:endParaRPr>
          </a:p>
          <a:p>
            <a:pPr lvl="6" marL="2057400" indent="-228600">
              <a:lnSpc>
                <a:spcPct val="9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000000"/>
                </a:solidFill>
                <a:latin typeface="Calibri"/>
              </a:rPr>
              <a:t>Seventh Outline Level</a:t>
            </a:r>
            <a:endParaRPr b="0" lang="en-US" sz="2800" spc="-1" strike="noStrike">
              <a:solidFill>
                <a:srgbClr val="000000"/>
              </a:solidFill>
              <a:latin typeface="Calibri"/>
            </a:endParaRPr>
          </a:p>
        </p:txBody>
      </p:sp>
      <p:sp>
        <p:nvSpPr>
          <p:cNvPr id="9" name="PlaceHolder 3"/>
          <p:cNvSpPr>
            <a:spLocks noGrp="1"/>
          </p:cNvSpPr>
          <p:nvPr>
            <p:ph type="ftr" idx="4"/>
          </p:nvPr>
        </p:nvSpPr>
        <p:spPr>
          <a:xfrm>
            <a:off x="4038480" y="6356520"/>
            <a:ext cx="4114800" cy="365040"/>
          </a:xfrm>
          <a:prstGeom prst="rect">
            <a:avLst/>
          </a:prstGeom>
          <a:noFill/>
          <a:ln w="0">
            <a:noFill/>
          </a:ln>
        </p:spPr>
        <p:txBody>
          <a:bodyPr lIns="90000" rIns="90000" tIns="46800" bIns="46800" anchor="ctr">
            <a:noAutofit/>
          </a:bodyPr>
          <a:lstStyle>
            <a:lvl1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pc="-1" strike="noStrike">
                <a:solidFill>
                  <a:srgbClr val="898989"/>
                </a:solidFill>
                <a:latin typeface="Calibri"/>
              </a:defRPr>
            </a:lvl1pPr>
          </a:lstStyle>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898989"/>
                </a:solidFill>
                <a:latin typeface="Calibri"/>
              </a:rPr>
              <a:t>Dept of CSE,GAT                     2021-22                                                                                                           </a:t>
            </a:r>
            <a:endParaRPr b="0" lang="en-US" sz="1200" spc="-1" strike="noStrike">
              <a:solidFill>
                <a:srgbClr val="000000"/>
              </a:solidFill>
              <a:latin typeface="Times New Roman"/>
            </a:endParaRPr>
          </a:p>
        </p:txBody>
      </p:sp>
      <p:sp>
        <p:nvSpPr>
          <p:cNvPr id="10" name="PlaceHolder 4"/>
          <p:cNvSpPr>
            <a:spLocks noGrp="1"/>
          </p:cNvSpPr>
          <p:nvPr>
            <p:ph type="sldNum" idx="5"/>
          </p:nvPr>
        </p:nvSpPr>
        <p:spPr>
          <a:xfrm>
            <a:off x="8610480" y="6356520"/>
            <a:ext cx="2743200" cy="365040"/>
          </a:xfrm>
          <a:prstGeom prst="rect">
            <a:avLst/>
          </a:prstGeom>
          <a:noFill/>
          <a:ln w="0">
            <a:noFill/>
          </a:ln>
        </p:spPr>
        <p:txBody>
          <a:bodyPr lIns="90000" rIns="90000" tIns="46800" bIns="46800" anchor="ctr">
            <a:noAutofit/>
          </a:bodyPr>
          <a:lstStyle>
            <a:lvl1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200" spc="-1" strike="noStrike">
                <a:solidFill>
                  <a:srgbClr val="898989"/>
                </a:solidFill>
                <a:latin typeface="Calibri"/>
              </a:defRPr>
            </a:lvl1pPr>
          </a:lstStyle>
          <a:p>
            <a: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3B215D5-0BE6-4B01-BFD9-5FE180AA7C15}" type="slidenum">
              <a:rPr b="0" lang="en-IN" sz="1200" spc="-1" strike="noStrike">
                <a:solidFill>
                  <a:srgbClr val="898989"/>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2"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 name="PlaceHolder 1"/>
          <p:cNvSpPr>
            <a:spLocks noGrp="1"/>
          </p:cNvSpPr>
          <p:nvPr>
            <p:ph type="title"/>
          </p:nvPr>
        </p:nvSpPr>
        <p:spPr>
          <a:xfrm>
            <a:off x="1060200" y="172800"/>
            <a:ext cx="10977480" cy="1058760"/>
          </a:xfrm>
          <a:prstGeom prst="rect">
            <a:avLst/>
          </a:prstGeom>
          <a:noFill/>
          <a:ln w="0">
            <a:noFill/>
          </a:ln>
        </p:spPr>
        <p:txBody>
          <a:bodyPr lIns="91440" rIns="91440" tIns="45720" bIns="45720" anchor="b">
            <a:noAutofit/>
          </a:bodyPr>
          <a:p>
            <a:pPr indent="0" algn="ctr">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800" spc="-1" strike="noStrike">
                <a:solidFill>
                  <a:srgbClr val="2e75b6"/>
                </a:solidFill>
                <a:latin typeface="Times New Roman"/>
                <a:ea typeface="Times New Roman"/>
              </a:rPr>
              <a:t>Aditya College of Engineering and Technology</a:t>
            </a:r>
            <a:br>
              <a:rPr sz="2800"/>
            </a:br>
            <a:r>
              <a:rPr b="1" lang="en-IN" sz="2800" spc="-1" strike="noStrike">
                <a:solidFill>
                  <a:srgbClr val="c00000"/>
                </a:solidFill>
                <a:latin typeface="Times New Roman"/>
                <a:ea typeface="Times New Roman"/>
              </a:rPr>
              <a:t>DEPARTMENT OF ARTIFICIAL INTELLIGENCE</a:t>
            </a:r>
            <a:br>
              <a:rPr sz="2800"/>
            </a:br>
            <a:r>
              <a:rPr b="1" lang="en-IN" sz="2800" spc="-1" strike="noStrike">
                <a:solidFill>
                  <a:srgbClr val="c00000"/>
                </a:solidFill>
                <a:latin typeface="Times New Roman"/>
                <a:ea typeface="Times New Roman"/>
              </a:rPr>
              <a:t> AND DATA SCIENCE</a:t>
            </a:r>
            <a:endParaRPr b="0" lang="en-US" sz="2800" spc="-1" strike="noStrike">
              <a:solidFill>
                <a:srgbClr val="000000"/>
              </a:solidFill>
              <a:latin typeface="Calibri Light"/>
            </a:endParaRPr>
          </a:p>
        </p:txBody>
      </p:sp>
      <p:graphicFrame>
        <p:nvGraphicFramePr>
          <p:cNvPr id="19" name=""/>
          <p:cNvGraphicFramePr/>
          <p:nvPr/>
        </p:nvGraphicFramePr>
        <p:xfrm>
          <a:off x="1011240" y="1419120"/>
          <a:ext cx="10594800" cy="5069160"/>
        </p:xfrm>
        <a:graphic>
          <a:graphicData uri="http://schemas.openxmlformats.org/drawingml/2006/table">
            <a:tbl>
              <a:tblPr/>
              <a:tblGrid>
                <a:gridCol w="1666800"/>
                <a:gridCol w="5143680"/>
                <a:gridCol w="1087200"/>
                <a:gridCol w="2697120"/>
              </a:tblGrid>
              <a:tr h="731880">
                <a:tc>
                  <a:txBody>
                    <a:bodyPr lIns="6480" rIns="6480" tIns="0" bIns="0" anchor="ctr">
                      <a:noAutofit/>
                    </a:bodyPr>
                    <a:p>
                      <a:pPr algn="ctr">
                        <a:lnSpc>
                          <a:spcPct val="150000"/>
                        </a:lnSpc>
                        <a:spcAft>
                          <a:spcPts val="1001"/>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Times New Roman"/>
                          <a:ea typeface="Times New Roman"/>
                        </a:rPr>
                        <a:t>Subject Name</a:t>
                      </a:r>
                      <a:endParaRPr b="0" lang="en-US" sz="1600" spc="-1" strike="noStrike">
                        <a:solidFill>
                          <a:srgbClr val="000000"/>
                        </a:solidFill>
                        <a:latin typeface="Arial"/>
                      </a:endParaRPr>
                    </a:p>
                  </a:txBody>
                  <a:tcPr anchor="ctr" marL="6480" marR="6480">
                    <a:lnL w="5760">
                      <a:solidFill>
                        <a:srgbClr val="5b9bd5"/>
                      </a:solidFill>
                      <a:prstDash val="solid"/>
                    </a:lnL>
                    <a:lnR w="5760">
                      <a:solidFill>
                        <a:srgbClr val="5b9bd5"/>
                      </a:solidFill>
                      <a:prstDash val="solid"/>
                    </a:lnR>
                    <a:lnT w="5760">
                      <a:solidFill>
                        <a:srgbClr val="5b9bd5"/>
                      </a:solidFill>
                      <a:prstDash val="solid"/>
                    </a:lnT>
                    <a:lnB w="5760">
                      <a:solidFill>
                        <a:srgbClr val="5b9bd5"/>
                      </a:solidFill>
                      <a:prstDash val="solid"/>
                    </a:lnB>
                    <a:noFill/>
                  </a:tcPr>
                </a:tc>
                <a:tc>
                  <a:txBody>
                    <a:bodyPr lIns="6480" rIns="6480" tIns="0" bIns="0" anchor="ctr">
                      <a:noAutofit/>
                    </a:bodyPr>
                    <a:p>
                      <a:pPr algn="ctr">
                        <a:lnSpc>
                          <a:spcPct val="115000"/>
                        </a:lnSpc>
                        <a:spcAft>
                          <a:spcPts val="1001"/>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000" spc="-1" strike="noStrike">
                          <a:solidFill>
                            <a:srgbClr val="ff0000"/>
                          </a:solidFill>
                          <a:latin typeface="Times New Roman"/>
                          <a:ea typeface="Times New Roman"/>
                        </a:rPr>
                        <a:t>Mini Project</a:t>
                      </a:r>
                      <a:endParaRPr b="0" lang="en-US" sz="2000" spc="-1" strike="noStrike">
                        <a:solidFill>
                          <a:srgbClr val="000000"/>
                        </a:solidFill>
                        <a:latin typeface="Arial"/>
                      </a:endParaRPr>
                    </a:p>
                  </a:txBody>
                  <a:tcPr anchor="ctr" marL="6480" marR="6480">
                    <a:lnL w="5760">
                      <a:solidFill>
                        <a:srgbClr val="5b9bd5"/>
                      </a:solidFill>
                      <a:prstDash val="solid"/>
                    </a:lnL>
                    <a:lnR w="5760">
                      <a:solidFill>
                        <a:srgbClr val="5b9bd5"/>
                      </a:solidFill>
                      <a:prstDash val="solid"/>
                    </a:lnR>
                    <a:lnT w="5760">
                      <a:solidFill>
                        <a:srgbClr val="5b9bd5"/>
                      </a:solidFill>
                      <a:prstDash val="solid"/>
                    </a:lnT>
                    <a:lnB w="5760">
                      <a:solidFill>
                        <a:srgbClr val="5b9bd5"/>
                      </a:solidFill>
                      <a:prstDash val="solid"/>
                    </a:lnB>
                    <a:noFill/>
                  </a:tcPr>
                </a:tc>
                <a:tc>
                  <a:txBody>
                    <a:bodyPr lIns="6480" rIns="6480" tIns="0" bIns="0" anchor="ctr">
                      <a:noAutofit/>
                    </a:bodyPr>
                    <a:p>
                      <a:pPr algn="ctr">
                        <a:lnSpc>
                          <a:spcPct val="150000"/>
                        </a:lnSpc>
                        <a:spcAft>
                          <a:spcPts val="1001"/>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Times New Roman"/>
                          <a:ea typeface="Times New Roman"/>
                        </a:rPr>
                        <a:t>Subject Code</a:t>
                      </a:r>
                      <a:endParaRPr b="0" lang="en-US" sz="1600" spc="-1" strike="noStrike">
                        <a:solidFill>
                          <a:srgbClr val="000000"/>
                        </a:solidFill>
                        <a:latin typeface="Arial"/>
                      </a:endParaRPr>
                    </a:p>
                  </a:txBody>
                  <a:tcPr anchor="ctr" marL="6480" marR="6480">
                    <a:lnL w="5760">
                      <a:solidFill>
                        <a:srgbClr val="5b9bd5"/>
                      </a:solidFill>
                      <a:prstDash val="solid"/>
                    </a:lnL>
                    <a:lnR w="5760">
                      <a:solidFill>
                        <a:srgbClr val="5b9bd5"/>
                      </a:solidFill>
                      <a:prstDash val="solid"/>
                    </a:lnR>
                    <a:lnT w="5760">
                      <a:solidFill>
                        <a:srgbClr val="5b9bd5"/>
                      </a:solidFill>
                      <a:prstDash val="solid"/>
                    </a:lnT>
                    <a:lnB w="5760">
                      <a:solidFill>
                        <a:srgbClr val="5b9bd5"/>
                      </a:solidFill>
                      <a:prstDash val="solid"/>
                    </a:lnB>
                    <a:noFill/>
                  </a:tcPr>
                </a:tc>
                <a:tc>
                  <a:txBody>
                    <a:bodyPr lIns="6480" rIns="6480" tIns="0" bIns="0" anchor="ctr">
                      <a:noAutofit/>
                    </a:bodyPr>
                    <a:p>
                      <a:pPr algn="ctr">
                        <a:lnSpc>
                          <a:spcPct val="115000"/>
                        </a:lnSpc>
                        <a:spcAft>
                          <a:spcPts val="1001"/>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000" spc="-1" strike="noStrike">
                          <a:solidFill>
                            <a:srgbClr val="ff0000"/>
                          </a:solidFill>
                          <a:latin typeface="Times New Roman"/>
                          <a:ea typeface="Times New Roman"/>
                        </a:rPr>
                        <a:t>BCS586</a:t>
                      </a:r>
                      <a:endParaRPr b="0" lang="en-US" sz="2000" spc="-1" strike="noStrike">
                        <a:solidFill>
                          <a:srgbClr val="000000"/>
                        </a:solidFill>
                        <a:latin typeface="Arial"/>
                      </a:endParaRPr>
                    </a:p>
                  </a:txBody>
                  <a:tcPr anchor="ctr" marL="6480" marR="6480">
                    <a:lnL w="5760">
                      <a:solidFill>
                        <a:srgbClr val="5b9bd5"/>
                      </a:solidFill>
                      <a:prstDash val="solid"/>
                    </a:lnL>
                    <a:lnR w="5760">
                      <a:solidFill>
                        <a:srgbClr val="5b9bd5"/>
                      </a:solidFill>
                      <a:prstDash val="solid"/>
                    </a:lnR>
                    <a:lnT w="5760">
                      <a:solidFill>
                        <a:srgbClr val="5b9bd5"/>
                      </a:solidFill>
                      <a:prstDash val="solid"/>
                    </a:lnT>
                    <a:lnB w="5760">
                      <a:solidFill>
                        <a:srgbClr val="5b9bd5"/>
                      </a:solidFill>
                      <a:prstDash val="solid"/>
                    </a:lnB>
                    <a:noFill/>
                  </a:tcPr>
                </a:tc>
              </a:tr>
              <a:tr h="487440">
                <a:tc rowSpan="4">
                  <a:txBody>
                    <a:bodyPr lIns="6480" rIns="6480" tIns="0" bIns="0" anchor="ctr">
                      <a:noAutofit/>
                    </a:bodyPr>
                    <a:p>
                      <a:pPr algn="ctr">
                        <a:lnSpc>
                          <a:spcPct val="150000"/>
                        </a:lnSpc>
                        <a:spcAft>
                          <a:spcPts val="1001"/>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Times New Roman"/>
                          <a:ea typeface="Times New Roman"/>
                        </a:rPr>
                        <a:t>Student </a:t>
                      </a:r>
                      <a:endParaRPr b="0" lang="en-US" sz="1600" spc="-1" strike="noStrike">
                        <a:solidFill>
                          <a:srgbClr val="000000"/>
                        </a:solidFill>
                        <a:latin typeface="Arial"/>
                      </a:endParaRPr>
                    </a:p>
                    <a:p>
                      <a:pPr algn="ctr">
                        <a:lnSpc>
                          <a:spcPct val="150000"/>
                        </a:lnSpc>
                        <a:spcAft>
                          <a:spcPts val="1001"/>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Times New Roman"/>
                          <a:ea typeface="Times New Roman"/>
                        </a:rPr>
                        <a:t>Name</a:t>
                      </a:r>
                      <a:endParaRPr b="0" lang="en-US" sz="1600" spc="-1" strike="noStrike">
                        <a:solidFill>
                          <a:srgbClr val="000000"/>
                        </a:solidFill>
                        <a:latin typeface="Arial"/>
                      </a:endParaRPr>
                    </a:p>
                  </a:txBody>
                  <a:tcPr anchor="ctr" marL="6480" marR="6480">
                    <a:lnL w="5760">
                      <a:solidFill>
                        <a:srgbClr val="5b9bd5"/>
                      </a:solidFill>
                      <a:prstDash val="solid"/>
                    </a:lnL>
                    <a:lnR w="5760">
                      <a:solidFill>
                        <a:srgbClr val="5b9bd5"/>
                      </a:solidFill>
                      <a:prstDash val="solid"/>
                    </a:lnR>
                    <a:lnT w="5760">
                      <a:solidFill>
                        <a:srgbClr val="5b9bd5"/>
                      </a:solidFill>
                      <a:prstDash val="solid"/>
                    </a:lnT>
                    <a:lnB w="5760">
                      <a:solidFill>
                        <a:srgbClr val="5b9bd5"/>
                      </a:solidFill>
                      <a:prstDash val="solid"/>
                    </a:lnB>
                    <a:noFill/>
                  </a:tcPr>
                </a:tc>
                <a:tc>
                  <a:txBody>
                    <a:bodyPr lIns="0" rIns="0" tIns="0" bIns="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Times New Roman"/>
                          <a:ea typeface="Times New Roman"/>
                        </a:rPr>
                        <a:t> </a:t>
                      </a:r>
                      <a:endParaRPr b="0" lang="en-US" sz="16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Times New Roman"/>
                          <a:ea typeface="Times New Roman"/>
                        </a:rPr>
                        <a:t>SUSHRITA.S</a:t>
                      </a:r>
                      <a:endParaRPr b="0" lang="en-US" sz="1600" spc="-1" strike="noStrike">
                        <a:solidFill>
                          <a:srgbClr val="000000"/>
                        </a:solidFill>
                        <a:latin typeface="Arial"/>
                      </a:endParaRPr>
                    </a:p>
                  </a:txBody>
                  <a:tcPr anchor="t">
                    <a:lnL w="5760">
                      <a:solidFill>
                        <a:srgbClr val="5b9bd5"/>
                      </a:solidFill>
                      <a:prstDash val="solid"/>
                    </a:lnL>
                    <a:lnR w="5760">
                      <a:solidFill>
                        <a:srgbClr val="5b9bd5"/>
                      </a:solidFill>
                      <a:prstDash val="solid"/>
                    </a:lnR>
                    <a:lnT w="5760">
                      <a:solidFill>
                        <a:srgbClr val="5b9bd5"/>
                      </a:solidFill>
                      <a:prstDash val="solid"/>
                    </a:lnT>
                    <a:lnB w="5760">
                      <a:solidFill>
                        <a:srgbClr val="5b9bd5"/>
                      </a:solidFill>
                      <a:prstDash val="solid"/>
                    </a:lnB>
                    <a:noFill/>
                  </a:tcPr>
                </a:tc>
                <a:tc rowSpan="4">
                  <a:txBody>
                    <a:bodyPr lIns="6480" rIns="6480" tIns="0" bIns="0" anchor="ctr">
                      <a:noAutofit/>
                    </a:bodyPr>
                    <a:p>
                      <a:pPr algn="ctr">
                        <a:lnSpc>
                          <a:spcPct val="150000"/>
                        </a:lnSpc>
                        <a:spcAft>
                          <a:spcPts val="1001"/>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Times New Roman"/>
                          <a:ea typeface="Times New Roman"/>
                        </a:rPr>
                        <a:t>USN</a:t>
                      </a:r>
                      <a:endParaRPr b="0" lang="en-US" sz="1600" spc="-1" strike="noStrike">
                        <a:solidFill>
                          <a:srgbClr val="000000"/>
                        </a:solidFill>
                        <a:latin typeface="Arial"/>
                      </a:endParaRPr>
                    </a:p>
                  </a:txBody>
                  <a:tcPr anchor="ctr" marL="6480" marR="6480">
                    <a:lnL w="5760">
                      <a:solidFill>
                        <a:srgbClr val="5b9bd5"/>
                      </a:solidFill>
                      <a:prstDash val="solid"/>
                    </a:lnL>
                    <a:lnR w="5760">
                      <a:solidFill>
                        <a:srgbClr val="0070c0"/>
                      </a:solidFill>
                      <a:prstDash val="solid"/>
                    </a:lnR>
                    <a:lnT w="5760">
                      <a:solidFill>
                        <a:srgbClr val="5b9bd5"/>
                      </a:solidFill>
                      <a:prstDash val="solid"/>
                    </a:lnT>
                    <a:lnB w="5760">
                      <a:solidFill>
                        <a:srgbClr val="5b9bd5"/>
                      </a:solidFill>
                      <a:prstDash val="solid"/>
                    </a:lnB>
                    <a:noFill/>
                  </a:tcPr>
                </a:tc>
                <a:tc>
                  <a:txBody>
                    <a:bodyPr lIns="0" rIns="0" tIns="0" bIns="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Times New Roman"/>
                          <a:ea typeface="Times New Roman"/>
                        </a:rPr>
                        <a:t> </a:t>
                      </a:r>
                      <a:endParaRPr b="0" lang="en-US" sz="16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Times New Roman"/>
                          <a:ea typeface="Times New Roman"/>
                        </a:rPr>
                        <a:t>1DI24AD023</a:t>
                      </a:r>
                      <a:endParaRPr b="0" lang="en-US" sz="1600" spc="-1" strike="noStrike">
                        <a:solidFill>
                          <a:srgbClr val="000000"/>
                        </a:solidFill>
                        <a:latin typeface="Arial"/>
                      </a:endParaRPr>
                    </a:p>
                  </a:txBody>
                  <a:tcPr anchor="t">
                    <a:lnL w="5760">
                      <a:solidFill>
                        <a:srgbClr val="0070c0"/>
                      </a:solidFill>
                      <a:prstDash val="solid"/>
                    </a:lnL>
                    <a:lnR w="5760">
                      <a:solidFill>
                        <a:srgbClr val="5b9bd5"/>
                      </a:solidFill>
                      <a:prstDash val="solid"/>
                    </a:lnR>
                    <a:lnT w="5760">
                      <a:solidFill>
                        <a:srgbClr val="5b9bd5"/>
                      </a:solidFill>
                      <a:prstDash val="solid"/>
                    </a:lnT>
                    <a:lnB w="5760">
                      <a:solidFill>
                        <a:srgbClr val="5b9bd5"/>
                      </a:solidFill>
                      <a:prstDash val="solid"/>
                    </a:lnB>
                    <a:noFill/>
                  </a:tcPr>
                </a:tc>
              </a:tr>
              <a:tr h="487440">
                <a:tc v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c>
                  <a:txBody>
                    <a:bodyPr lIns="0" rIns="0" tIns="0" bIns="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Times New Roman"/>
                          <a:ea typeface="Times New Roman"/>
                        </a:rPr>
                        <a:t> </a:t>
                      </a:r>
                      <a:endParaRPr b="0" lang="en-US" sz="16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Times New Roman"/>
                          <a:ea typeface="Times New Roman"/>
                        </a:rPr>
                        <a:t>THANISHKA.H.G</a:t>
                      </a:r>
                      <a:endParaRPr b="0" lang="en-US" sz="1600" spc="-1" strike="noStrike">
                        <a:solidFill>
                          <a:srgbClr val="000000"/>
                        </a:solidFill>
                        <a:latin typeface="Arial"/>
                      </a:endParaRPr>
                    </a:p>
                  </a:txBody>
                  <a:tcPr anchor="t">
                    <a:lnL w="5760">
                      <a:solidFill>
                        <a:srgbClr val="5b9bd5"/>
                      </a:solidFill>
                      <a:prstDash val="solid"/>
                    </a:lnL>
                    <a:lnR w="5760">
                      <a:solidFill>
                        <a:srgbClr val="5b9bd5"/>
                      </a:solidFill>
                      <a:prstDash val="solid"/>
                    </a:lnR>
                    <a:lnT w="5760">
                      <a:solidFill>
                        <a:srgbClr val="5b9bd5"/>
                      </a:solidFill>
                      <a:prstDash val="solid"/>
                    </a:lnT>
                    <a:lnB w="5760">
                      <a:solidFill>
                        <a:srgbClr val="5b9bd5"/>
                      </a:solidFill>
                      <a:prstDash val="solid"/>
                    </a:lnB>
                    <a:noFill/>
                  </a:tcPr>
                </a:tc>
                <a:tc v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c>
                  <a:txBody>
                    <a:bodyPr lIns="0" rIns="0" tIns="0" bIns="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Times New Roman"/>
                          <a:ea typeface="Times New Roman"/>
                        </a:rPr>
                        <a:t> </a:t>
                      </a:r>
                      <a:endParaRPr b="0" lang="en-US" sz="16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Times New Roman"/>
                          <a:ea typeface="Times New Roman"/>
                        </a:rPr>
                        <a:t>1DI24AD025</a:t>
                      </a:r>
                      <a:endParaRPr b="0" lang="en-US" sz="1600" spc="-1" strike="noStrike">
                        <a:solidFill>
                          <a:srgbClr val="000000"/>
                        </a:solidFill>
                        <a:latin typeface="Arial"/>
                      </a:endParaRPr>
                    </a:p>
                  </a:txBody>
                  <a:tcPr anchor="t">
                    <a:lnL w="5760">
                      <a:solidFill>
                        <a:srgbClr val="0070c0"/>
                      </a:solidFill>
                      <a:prstDash val="solid"/>
                    </a:lnL>
                    <a:lnR w="5760">
                      <a:solidFill>
                        <a:srgbClr val="5b9bd5"/>
                      </a:solidFill>
                      <a:prstDash val="solid"/>
                    </a:lnR>
                    <a:lnT w="5760">
                      <a:solidFill>
                        <a:srgbClr val="5b9bd5"/>
                      </a:solidFill>
                      <a:prstDash val="solid"/>
                    </a:lnT>
                    <a:lnB w="5760">
                      <a:solidFill>
                        <a:srgbClr val="5b9bd5"/>
                      </a:solidFill>
                      <a:prstDash val="solid"/>
                    </a:lnB>
                    <a:noFill/>
                  </a:tcPr>
                </a:tc>
              </a:tr>
              <a:tr h="492120">
                <a:tc v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c>
                  <a:txBody>
                    <a:bodyPr lIns="0" rIns="0" tIns="0" bIns="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Times New Roman"/>
                          <a:ea typeface="Times New Roman"/>
                        </a:rPr>
                        <a:t> </a:t>
                      </a:r>
                      <a:endParaRPr b="0" lang="en-US" sz="16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Times New Roman"/>
                          <a:ea typeface="Times New Roman"/>
                        </a:rPr>
                        <a:t>BINDHU.D.R</a:t>
                      </a:r>
                      <a:endParaRPr b="0" lang="en-US" sz="1600" spc="-1" strike="noStrike">
                        <a:solidFill>
                          <a:srgbClr val="000000"/>
                        </a:solidFill>
                        <a:latin typeface="Arial"/>
                      </a:endParaRPr>
                    </a:p>
                  </a:txBody>
                  <a:tcPr anchor="t">
                    <a:lnL w="5760">
                      <a:solidFill>
                        <a:srgbClr val="5b9bd5"/>
                      </a:solidFill>
                      <a:prstDash val="solid"/>
                    </a:lnL>
                    <a:lnR w="5760">
                      <a:solidFill>
                        <a:srgbClr val="5b9bd5"/>
                      </a:solidFill>
                      <a:prstDash val="solid"/>
                    </a:lnR>
                    <a:lnT w="5760">
                      <a:solidFill>
                        <a:srgbClr val="5b9bd5"/>
                      </a:solidFill>
                      <a:prstDash val="solid"/>
                    </a:lnT>
                    <a:lnB w="5760">
                      <a:solidFill>
                        <a:srgbClr val="5b9bd5"/>
                      </a:solidFill>
                      <a:prstDash val="solid"/>
                    </a:lnB>
                    <a:noFill/>
                  </a:tcPr>
                </a:tc>
                <a:tc v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c>
                  <a:txBody>
                    <a:bodyPr lIns="0" rIns="0" tIns="0" bIns="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Times New Roman"/>
                          <a:ea typeface="Times New Roman"/>
                        </a:rPr>
                        <a:t> </a:t>
                      </a:r>
                      <a:endParaRPr b="0" lang="en-US" sz="16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Times New Roman"/>
                          <a:ea typeface="Times New Roman"/>
                        </a:rPr>
                        <a:t>1DI24AD003</a:t>
                      </a:r>
                      <a:endParaRPr b="0" lang="en-US" sz="1600" spc="-1" strike="noStrike">
                        <a:solidFill>
                          <a:srgbClr val="000000"/>
                        </a:solidFill>
                        <a:latin typeface="Arial"/>
                      </a:endParaRPr>
                    </a:p>
                  </a:txBody>
                  <a:tcPr anchor="t">
                    <a:lnL w="5760">
                      <a:solidFill>
                        <a:srgbClr val="0070c0"/>
                      </a:solidFill>
                      <a:prstDash val="solid"/>
                    </a:lnL>
                    <a:lnR w="5760">
                      <a:solidFill>
                        <a:srgbClr val="5b9bd5"/>
                      </a:solidFill>
                      <a:prstDash val="solid"/>
                    </a:lnR>
                    <a:lnT w="5760">
                      <a:solidFill>
                        <a:srgbClr val="5b9bd5"/>
                      </a:solidFill>
                      <a:prstDash val="solid"/>
                    </a:lnT>
                    <a:lnB w="5760">
                      <a:solidFill>
                        <a:srgbClr val="5b9bd5"/>
                      </a:solidFill>
                      <a:prstDash val="solid"/>
                    </a:lnB>
                    <a:noFill/>
                  </a:tcPr>
                </a:tc>
              </a:tr>
              <a:tr h="606240">
                <a:tc v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c>
                  <a:txBody>
                    <a:bodyPr lIns="0" rIns="0" tIns="0" bIns="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Times New Roman"/>
                          <a:ea typeface="Times New Roman"/>
                        </a:rPr>
                        <a:t> </a:t>
                      </a:r>
                      <a:endParaRPr b="0" lang="en-US" sz="16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Times New Roman"/>
                          <a:ea typeface="Times New Roman"/>
                        </a:rPr>
                        <a:t>HARSHITHA.A</a:t>
                      </a:r>
                      <a:endParaRPr b="0" lang="en-US" sz="1600" spc="-1" strike="noStrike">
                        <a:solidFill>
                          <a:srgbClr val="000000"/>
                        </a:solidFill>
                        <a:latin typeface="Arial"/>
                      </a:endParaRPr>
                    </a:p>
                  </a:txBody>
                  <a:tcPr anchor="t">
                    <a:lnL w="5760">
                      <a:solidFill>
                        <a:srgbClr val="5b9bd5"/>
                      </a:solidFill>
                      <a:prstDash val="solid"/>
                    </a:lnL>
                    <a:lnR w="5760">
                      <a:solidFill>
                        <a:srgbClr val="5b9bd5"/>
                      </a:solidFill>
                      <a:prstDash val="solid"/>
                    </a:lnR>
                    <a:lnT w="5760">
                      <a:solidFill>
                        <a:srgbClr val="5b9bd5"/>
                      </a:solidFill>
                      <a:prstDash val="solid"/>
                    </a:lnT>
                    <a:lnB w="5760">
                      <a:solidFill>
                        <a:srgbClr val="5b9bd5"/>
                      </a:solidFill>
                      <a:prstDash val="solid"/>
                    </a:lnB>
                    <a:noFill/>
                  </a:tcPr>
                </a:tc>
                <a:tc v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c>
                  <a:txBody>
                    <a:bodyPr lIns="0" rIns="0" tIns="0" bIns="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Times New Roman"/>
                          <a:ea typeface="Times New Roman"/>
                        </a:rPr>
                        <a:t> </a:t>
                      </a:r>
                      <a:endParaRPr b="0" lang="en-US" sz="16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Times New Roman"/>
                          <a:ea typeface="Times New Roman"/>
                        </a:rPr>
                        <a:t>1DI24DS003</a:t>
                      </a:r>
                      <a:endParaRPr b="0" lang="en-US" sz="1600" spc="-1" strike="noStrike">
                        <a:solidFill>
                          <a:srgbClr val="000000"/>
                        </a:solidFill>
                        <a:latin typeface="Arial"/>
                      </a:endParaRPr>
                    </a:p>
                  </a:txBody>
                  <a:tcPr anchor="t">
                    <a:lnL w="5760">
                      <a:solidFill>
                        <a:srgbClr val="0070c0"/>
                      </a:solidFill>
                      <a:prstDash val="solid"/>
                    </a:lnL>
                    <a:lnR w="5760">
                      <a:solidFill>
                        <a:srgbClr val="5b9bd5"/>
                      </a:solidFill>
                      <a:prstDash val="solid"/>
                    </a:lnR>
                    <a:lnT w="5760">
                      <a:solidFill>
                        <a:srgbClr val="5b9bd5"/>
                      </a:solidFill>
                      <a:prstDash val="solid"/>
                    </a:lnT>
                    <a:lnB w="5760">
                      <a:solidFill>
                        <a:srgbClr val="5b9bd5"/>
                      </a:solidFill>
                      <a:prstDash val="solid"/>
                    </a:lnB>
                    <a:noFill/>
                  </a:tcPr>
                </a:tc>
              </a:tr>
              <a:tr h="520920">
                <a:tc>
                  <a:txBody>
                    <a:bodyPr lIns="6480" rIns="6480" tIns="0" bIns="0" anchor="ctr">
                      <a:noAutofit/>
                    </a:bodyPr>
                    <a:p>
                      <a:pPr algn="ctr">
                        <a:lnSpc>
                          <a:spcPct val="150000"/>
                        </a:lnSpc>
                        <a:spcAft>
                          <a:spcPts val="1001"/>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Times New Roman"/>
                          <a:ea typeface="Times New Roman"/>
                        </a:rPr>
                        <a:t>Domain</a:t>
                      </a:r>
                      <a:endParaRPr b="0" lang="en-US" sz="1600" spc="-1" strike="noStrike">
                        <a:solidFill>
                          <a:srgbClr val="000000"/>
                        </a:solidFill>
                        <a:latin typeface="Arial"/>
                      </a:endParaRPr>
                    </a:p>
                  </a:txBody>
                  <a:tcPr anchor="ctr" marL="6480" marR="6480">
                    <a:lnL w="5760">
                      <a:solidFill>
                        <a:srgbClr val="5b9bd5"/>
                      </a:solidFill>
                      <a:prstDash val="solid"/>
                    </a:lnL>
                    <a:lnR w="5760">
                      <a:solidFill>
                        <a:srgbClr val="5b9bd5"/>
                      </a:solidFill>
                      <a:prstDash val="solid"/>
                    </a:lnR>
                    <a:lnT w="5760">
                      <a:solidFill>
                        <a:srgbClr val="5b9bd5"/>
                      </a:solidFill>
                      <a:prstDash val="solid"/>
                    </a:lnT>
                    <a:lnB w="5760">
                      <a:solidFill>
                        <a:srgbClr val="5b9bd5"/>
                      </a:solidFill>
                      <a:prstDash val="solid"/>
                    </a:lnB>
                    <a:noFill/>
                  </a:tcPr>
                </a:tc>
                <a:tc>
                  <a:txBody>
                    <a:bodyPr lIns="0" rIns="0" tIns="0" bIns="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Times New Roman"/>
                          <a:ea typeface="Times New Roman"/>
                        </a:rPr>
                        <a:t> </a:t>
                      </a:r>
                      <a:endParaRPr b="0" lang="en-US" sz="16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Times New Roman"/>
                          <a:ea typeface="Times New Roman"/>
                        </a:rPr>
                        <a:t>Cloud computing/DevOps</a:t>
                      </a:r>
                      <a:endParaRPr b="0" lang="en-US" sz="1600" spc="-1" strike="noStrike">
                        <a:solidFill>
                          <a:srgbClr val="000000"/>
                        </a:solidFill>
                        <a:latin typeface="Arial"/>
                      </a:endParaRPr>
                    </a:p>
                  </a:txBody>
                  <a:tcPr anchor="t">
                    <a:lnL w="5760">
                      <a:solidFill>
                        <a:srgbClr val="5b9bd5"/>
                      </a:solidFill>
                      <a:prstDash val="solid"/>
                    </a:lnL>
                    <a:lnR w="5760">
                      <a:solidFill>
                        <a:srgbClr val="5b9bd5"/>
                      </a:solidFill>
                      <a:prstDash val="solid"/>
                    </a:lnR>
                    <a:lnT w="5760">
                      <a:solidFill>
                        <a:srgbClr val="5b9bd5"/>
                      </a:solidFill>
                      <a:prstDash val="solid"/>
                    </a:lnT>
                    <a:lnB w="5760">
                      <a:solidFill>
                        <a:srgbClr val="5b9bd5"/>
                      </a:solidFill>
                      <a:prstDash val="solid"/>
                    </a:lnB>
                    <a:noFill/>
                  </a:tcPr>
                </a:tc>
                <a:tc>
                  <a:txBody>
                    <a:bodyPr lIns="6480" rIns="6480" tIns="0" bIns="0" anchor="ctr">
                      <a:noAutofit/>
                    </a:bodyPr>
                    <a:p>
                      <a:pPr algn="ctr">
                        <a:lnSpc>
                          <a:spcPct val="150000"/>
                        </a:lnSpc>
                        <a:spcAft>
                          <a:spcPts val="1001"/>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Times New Roman"/>
                          <a:ea typeface="Times New Roman"/>
                        </a:rPr>
                        <a:t>Group No:</a:t>
                      </a:r>
                      <a:endParaRPr b="0" lang="en-US" sz="1600" spc="-1" strike="noStrike">
                        <a:solidFill>
                          <a:srgbClr val="000000"/>
                        </a:solidFill>
                        <a:latin typeface="Arial"/>
                      </a:endParaRPr>
                    </a:p>
                  </a:txBody>
                  <a:tcPr anchor="ctr" marL="6480" marR="6480">
                    <a:lnL w="5760">
                      <a:solidFill>
                        <a:srgbClr val="5b9bd5"/>
                      </a:solidFill>
                      <a:prstDash val="solid"/>
                    </a:lnL>
                    <a:lnR w="5760">
                      <a:solidFill>
                        <a:srgbClr val="5b9bd5"/>
                      </a:solidFill>
                      <a:prstDash val="solid"/>
                    </a:lnR>
                    <a:lnT w="5760">
                      <a:solidFill>
                        <a:srgbClr val="5b9bd5"/>
                      </a:solidFill>
                      <a:prstDash val="solid"/>
                    </a:lnT>
                    <a:lnB w="5760">
                      <a:solidFill>
                        <a:srgbClr val="5b9bd5"/>
                      </a:solidFill>
                      <a:prstDash val="solid"/>
                    </a:lnB>
                    <a:noFill/>
                  </a:tcPr>
                </a:tc>
                <a:tc>
                  <a:txBody>
                    <a:bodyPr lIns="6480" rIns="6480" tIns="0" bIns="0" anchor="t">
                      <a:noAutofit/>
                    </a:bodyPr>
                    <a:p>
                      <a:pPr algn="ctr">
                        <a:lnSpc>
                          <a:spcPct val="150000"/>
                        </a:lnSpc>
                        <a:spcAft>
                          <a:spcPts val="1001"/>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Times New Roman"/>
                          <a:ea typeface="Times New Roman"/>
                        </a:rPr>
                        <a:t> </a:t>
                      </a:r>
                      <a:endParaRPr b="0" lang="en-US" sz="1600" spc="-1" strike="noStrike">
                        <a:solidFill>
                          <a:srgbClr val="000000"/>
                        </a:solidFill>
                        <a:latin typeface="Arial"/>
                      </a:endParaRPr>
                    </a:p>
                  </a:txBody>
                  <a:tcPr anchor="t" marL="6480" marR="6480">
                    <a:lnL w="5760">
                      <a:solidFill>
                        <a:srgbClr val="5b9bd5"/>
                      </a:solidFill>
                      <a:prstDash val="solid"/>
                    </a:lnL>
                    <a:lnR w="5760">
                      <a:solidFill>
                        <a:srgbClr val="5b9bd5"/>
                      </a:solidFill>
                      <a:prstDash val="solid"/>
                    </a:lnR>
                    <a:lnT w="5760">
                      <a:solidFill>
                        <a:srgbClr val="5b9bd5"/>
                      </a:solidFill>
                      <a:prstDash val="solid"/>
                    </a:lnT>
                    <a:lnB w="5760">
                      <a:solidFill>
                        <a:srgbClr val="5b9bd5"/>
                      </a:solidFill>
                      <a:prstDash val="solid"/>
                    </a:lnB>
                    <a:noFill/>
                  </a:tcPr>
                </a:tc>
              </a:tr>
              <a:tr h="520560">
                <a:tc>
                  <a:txBody>
                    <a:bodyPr lIns="6480" rIns="6480" tIns="0" bIns="0" anchor="ctr">
                      <a:noAutofit/>
                    </a:bodyPr>
                    <a:p>
                      <a:pPr algn="ctr">
                        <a:lnSpc>
                          <a:spcPct val="150000"/>
                        </a:lnSpc>
                        <a:spcAft>
                          <a:spcPts val="1001"/>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Times New Roman"/>
                          <a:ea typeface="Times New Roman"/>
                        </a:rPr>
                        <a:t>Project Title</a:t>
                      </a:r>
                      <a:endParaRPr b="0" lang="en-US" sz="1600" spc="-1" strike="noStrike">
                        <a:solidFill>
                          <a:srgbClr val="000000"/>
                        </a:solidFill>
                        <a:latin typeface="Arial"/>
                      </a:endParaRPr>
                    </a:p>
                  </a:txBody>
                  <a:tcPr anchor="ctr" marL="6480" marR="6480">
                    <a:lnL w="5760">
                      <a:solidFill>
                        <a:srgbClr val="5b9bd5"/>
                      </a:solidFill>
                      <a:prstDash val="solid"/>
                    </a:lnL>
                    <a:lnR w="5760">
                      <a:solidFill>
                        <a:srgbClr val="5b9bd5"/>
                      </a:solidFill>
                      <a:prstDash val="solid"/>
                    </a:lnR>
                    <a:lnT w="5760">
                      <a:solidFill>
                        <a:srgbClr val="5b9bd5"/>
                      </a:solidFill>
                      <a:prstDash val="solid"/>
                    </a:lnT>
                    <a:lnB w="5760">
                      <a:solidFill>
                        <a:srgbClr val="5b9bd5"/>
                      </a:solidFill>
                      <a:prstDash val="solid"/>
                    </a:lnB>
                    <a:noFill/>
                  </a:tcPr>
                </a:tc>
                <a:tc gridSpan="3">
                  <a:txBody>
                    <a:bodyPr lIns="6480" rIns="6480" tIns="0" bIns="0" anchor="t">
                      <a:noAutofit/>
                    </a:bodyPr>
                    <a:p>
                      <a:pPr algn="ctr">
                        <a:lnSpc>
                          <a:spcPct val="150000"/>
                        </a:lnSpc>
                        <a:spcAft>
                          <a:spcPts val="1001"/>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Times New Roman"/>
                          <a:ea typeface="Times New Roman"/>
                        </a:rPr>
                        <a:t> </a:t>
                      </a:r>
                      <a:r>
                        <a:rPr b="0" lang="en-US" sz="1800" spc="-1" strike="noStrike">
                          <a:solidFill>
                            <a:srgbClr val="000000"/>
                          </a:solidFill>
                          <a:latin typeface="Times New Roman"/>
                          <a:ea typeface="Times New Roman"/>
                        </a:rPr>
                        <a:t>Cost-Aware Predictive Autoscaling Using Machine Learning for Kubernetes</a:t>
                      </a:r>
                      <a:endParaRPr b="0" lang="en-US" sz="1800" spc="-1" strike="noStrike">
                        <a:solidFill>
                          <a:srgbClr val="000000"/>
                        </a:solidFill>
                        <a:latin typeface="Arial"/>
                      </a:endParaRPr>
                    </a:p>
                  </a:txBody>
                  <a:tcPr anchor="t" marL="6480" marR="6480">
                    <a:lnL w="5760">
                      <a:solidFill>
                        <a:srgbClr val="5b9bd5"/>
                      </a:solidFill>
                      <a:prstDash val="solid"/>
                    </a:lnL>
                    <a:lnR w="5760">
                      <a:solidFill>
                        <a:srgbClr val="5b9bd5"/>
                      </a:solidFill>
                      <a:prstDash val="solid"/>
                    </a:lnR>
                    <a:lnT w="5760">
                      <a:solidFill>
                        <a:srgbClr val="5b9bd5"/>
                      </a:solidFill>
                      <a:prstDash val="solid"/>
                    </a:lnT>
                    <a:lnB w="5760">
                      <a:solidFill>
                        <a:srgbClr val="5b9bd5"/>
                      </a:solidFill>
                      <a:prstDash val="solid"/>
                    </a:lnB>
                    <a:noFill/>
                  </a:tcPr>
                </a:tc>
                <a:tc h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r>
              <a:tr h="644400">
                <a:tc>
                  <a:txBody>
                    <a:bodyPr lIns="6480" rIns="6480" tIns="0" bIns="0" anchor="ctr">
                      <a:noAutofit/>
                    </a:bodyPr>
                    <a:p>
                      <a:pPr algn="ctr">
                        <a:lnSpc>
                          <a:spcPct val="150000"/>
                        </a:lnSpc>
                        <a:spcAft>
                          <a:spcPts val="1001"/>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Times New Roman"/>
                          <a:ea typeface="Times New Roman"/>
                        </a:rPr>
                        <a:t>Under taken at</a:t>
                      </a:r>
                      <a:endParaRPr b="0" lang="en-US" sz="1600" spc="-1" strike="noStrike">
                        <a:solidFill>
                          <a:srgbClr val="000000"/>
                        </a:solidFill>
                        <a:latin typeface="Arial"/>
                      </a:endParaRPr>
                    </a:p>
                  </a:txBody>
                  <a:tcPr anchor="ctr" marL="6480" marR="6480">
                    <a:lnL w="5760">
                      <a:solidFill>
                        <a:srgbClr val="5b9bd5"/>
                      </a:solidFill>
                      <a:prstDash val="solid"/>
                    </a:lnL>
                    <a:lnR w="5760">
                      <a:solidFill>
                        <a:srgbClr val="5b9bd5"/>
                      </a:solidFill>
                      <a:prstDash val="solid"/>
                    </a:lnR>
                    <a:lnT w="5760">
                      <a:solidFill>
                        <a:srgbClr val="5b9bd5"/>
                      </a:solidFill>
                      <a:prstDash val="solid"/>
                    </a:lnT>
                    <a:lnB w="5760">
                      <a:solidFill>
                        <a:srgbClr val="5b9bd5"/>
                      </a:solidFill>
                      <a:prstDash val="solid"/>
                    </a:lnB>
                    <a:noFill/>
                  </a:tcPr>
                </a:tc>
                <a:tc gridSpan="3">
                  <a:txBody>
                    <a:bodyPr lIns="6480" rIns="6480" tIns="0" bIns="0" anchor="t">
                      <a:noAutofit/>
                    </a:bodyPr>
                    <a:p>
                      <a:pPr algn="ctr">
                        <a:lnSpc>
                          <a:spcPct val="150000"/>
                        </a:lnSpc>
                        <a:spcAft>
                          <a:spcPts val="1001"/>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Times New Roman"/>
                          <a:ea typeface="Times New Roman"/>
                        </a:rPr>
                        <a:t> </a:t>
                      </a:r>
                      <a:r>
                        <a:rPr b="1" lang="en-US" sz="1600" spc="-1" strike="noStrike">
                          <a:solidFill>
                            <a:srgbClr val="000000"/>
                          </a:solidFill>
                          <a:latin typeface="Times New Roman"/>
                          <a:ea typeface="Times New Roman"/>
                        </a:rPr>
                        <a:t>Aditya College of Engineering and Technology</a:t>
                      </a:r>
                      <a:endParaRPr b="0" lang="en-US" sz="1600" spc="-1" strike="noStrike">
                        <a:solidFill>
                          <a:srgbClr val="000000"/>
                        </a:solidFill>
                        <a:latin typeface="Arial"/>
                      </a:endParaRPr>
                    </a:p>
                  </a:txBody>
                  <a:tcPr anchor="t" marL="6480" marR="6480">
                    <a:lnL w="5760">
                      <a:solidFill>
                        <a:srgbClr val="5b9bd5"/>
                      </a:solidFill>
                      <a:prstDash val="solid"/>
                    </a:lnL>
                    <a:lnR w="5760">
                      <a:solidFill>
                        <a:srgbClr val="5b9bd5"/>
                      </a:solidFill>
                      <a:prstDash val="solid"/>
                    </a:lnR>
                    <a:lnT w="5760">
                      <a:solidFill>
                        <a:srgbClr val="5b9bd5"/>
                      </a:solidFill>
                      <a:prstDash val="solid"/>
                    </a:lnT>
                    <a:lnB w="5760">
                      <a:solidFill>
                        <a:srgbClr val="5b9bd5"/>
                      </a:solidFill>
                      <a:prstDash val="solid"/>
                    </a:lnB>
                    <a:noFill/>
                  </a:tcPr>
                </a:tc>
                <a:tc h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r>
              <a:tr h="578160">
                <a:tc>
                  <a:txBody>
                    <a:bodyPr lIns="6480" rIns="6480" tIns="0" bIns="0" anchor="ctr">
                      <a:noAutofit/>
                    </a:bodyPr>
                    <a:p>
                      <a:pPr algn="ctr">
                        <a:lnSpc>
                          <a:spcPct val="150000"/>
                        </a:lnSpc>
                        <a:spcAft>
                          <a:spcPts val="1001"/>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a:txBody>
                  <a:tcPr anchor="ctr" marL="6480" marR="6480">
                    <a:lnL w="5760">
                      <a:solidFill>
                        <a:srgbClr val="5b9bd5"/>
                      </a:solidFill>
                      <a:prstDash val="solid"/>
                    </a:lnL>
                    <a:lnR w="5760">
                      <a:solidFill>
                        <a:srgbClr val="5b9bd5"/>
                      </a:solidFill>
                      <a:prstDash val="solid"/>
                    </a:lnR>
                    <a:lnT w="5760">
                      <a:solidFill>
                        <a:srgbClr val="5b9bd5"/>
                      </a:solidFill>
                      <a:prstDash val="solid"/>
                    </a:lnT>
                    <a:lnB w="5760">
                      <a:solidFill>
                        <a:srgbClr val="5b9bd5"/>
                      </a:solidFill>
                      <a:prstDash val="solid"/>
                    </a:lnB>
                    <a:noFill/>
                  </a:tcPr>
                </a:tc>
                <a:tc gridSpan="3">
                  <a:txBody>
                    <a:bodyPr lIns="6480" rIns="6480" tIns="0" bIns="0" anchor="t">
                      <a:noAutofit/>
                    </a:bodyPr>
                    <a:p>
                      <a:pPr algn="ctr">
                        <a:lnSpc>
                          <a:spcPct val="150000"/>
                        </a:lnSpc>
                        <a:spcAft>
                          <a:spcPts val="1001"/>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Times New Roman"/>
                          <a:ea typeface="Times New Roman"/>
                        </a:rPr>
                        <a:t> </a:t>
                      </a:r>
                      <a:endParaRPr b="0" lang="en-US" sz="1600" spc="-1" strike="noStrike">
                        <a:solidFill>
                          <a:srgbClr val="000000"/>
                        </a:solidFill>
                        <a:latin typeface="Arial"/>
                      </a:endParaRPr>
                    </a:p>
                  </a:txBody>
                  <a:tcPr anchor="t" marL="6480" marR="6480">
                    <a:lnL w="5760">
                      <a:solidFill>
                        <a:srgbClr val="5b9bd5"/>
                      </a:solidFill>
                      <a:prstDash val="solid"/>
                    </a:lnL>
                    <a:lnR w="5760">
                      <a:solidFill>
                        <a:srgbClr val="5b9bd5"/>
                      </a:solidFill>
                      <a:prstDash val="solid"/>
                    </a:lnR>
                    <a:lnT w="5760">
                      <a:solidFill>
                        <a:srgbClr val="5b9bd5"/>
                      </a:solidFill>
                      <a:prstDash val="solid"/>
                    </a:lnT>
                    <a:lnB w="5760">
                      <a:solidFill>
                        <a:srgbClr val="5b9bd5"/>
                      </a:solidFill>
                      <a:prstDash val="solid"/>
                    </a:lnB>
                    <a:noFill/>
                  </a:tcPr>
                </a:tc>
                <a:tc h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r>
            </a:tbl>
          </a:graphicData>
        </a:graphic>
      </p:graphicFrame>
      <p:pic>
        <p:nvPicPr>
          <p:cNvPr id="20" name="Picture 4" descr=""/>
          <p:cNvPicPr/>
          <p:nvPr/>
        </p:nvPicPr>
        <p:blipFill>
          <a:blip r:embed="rId1"/>
          <a:stretch/>
        </p:blipFill>
        <p:spPr>
          <a:xfrm>
            <a:off x="297000" y="387360"/>
            <a:ext cx="852480" cy="73800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 name="PlaceHolder 1"/>
          <p:cNvSpPr>
            <a:spLocks noGrp="1"/>
          </p:cNvSpPr>
          <p:nvPr>
            <p:ph type="title"/>
          </p:nvPr>
        </p:nvSpPr>
        <p:spPr>
          <a:xfrm>
            <a:off x="838080" y="365040"/>
            <a:ext cx="10515600" cy="493920"/>
          </a:xfrm>
          <a:prstGeom prst="rect">
            <a:avLst/>
          </a:prstGeom>
          <a:noFill/>
          <a:ln w="0">
            <a:noFill/>
          </a:ln>
        </p:spPr>
        <p:txBody>
          <a:bodyPr lIns="91440" rIns="91440" tIns="45720" bIns="45720" anchor="ctr">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400" spc="-1" strike="noStrike">
                <a:solidFill>
                  <a:srgbClr val="000000"/>
                </a:solidFill>
                <a:latin typeface="Times New Roman"/>
                <a:ea typeface="Times New Roman"/>
              </a:rPr>
              <a:t>Agenda</a:t>
            </a:r>
            <a:endParaRPr b="0" lang="en-US" sz="4400" spc="-1" strike="noStrike">
              <a:solidFill>
                <a:srgbClr val="000000"/>
              </a:solidFill>
              <a:latin typeface="Calibri Light"/>
            </a:endParaRPr>
          </a:p>
        </p:txBody>
      </p:sp>
      <p:sp>
        <p:nvSpPr>
          <p:cNvPr id="22" name=""/>
          <p:cNvSpPr txBox="1"/>
          <p:nvPr/>
        </p:nvSpPr>
        <p:spPr>
          <a:xfrm>
            <a:off x="0" y="996840"/>
            <a:ext cx="11353680" cy="5359680"/>
          </a:xfrm>
          <a:prstGeom prst="rect">
            <a:avLst/>
          </a:prstGeom>
          <a:noFill/>
          <a:ln w="0">
            <a:noFill/>
          </a:ln>
        </p:spPr>
        <p:txBody>
          <a:bodyPr anchor="t">
            <a:normAutofit/>
          </a:bodyPr>
          <a:p>
            <a:pPr marL="228600" indent="-228600">
              <a:lnSpc>
                <a:spcPct val="15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pc="-1" strike="noStrike">
                <a:solidFill>
                  <a:srgbClr val="000000"/>
                </a:solidFill>
                <a:latin typeface="Times New Roman"/>
                <a:ea typeface="Times New Roman"/>
              </a:rPr>
              <a:t>Introduction</a:t>
            </a:r>
            <a:endParaRPr b="0" lang="en-US" sz="2400" spc="-1" strike="noStrike">
              <a:solidFill>
                <a:srgbClr val="000000"/>
              </a:solidFill>
              <a:latin typeface="Calibri"/>
            </a:endParaRPr>
          </a:p>
          <a:p>
            <a:pPr marL="228600" indent="-228600">
              <a:lnSpc>
                <a:spcPct val="15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pc="-1" strike="noStrike">
                <a:solidFill>
                  <a:srgbClr val="000000"/>
                </a:solidFill>
                <a:latin typeface="Times New Roman"/>
                <a:ea typeface="Times New Roman"/>
              </a:rPr>
              <a:t>Problem Statement</a:t>
            </a:r>
            <a:endParaRPr b="0" lang="en-US" sz="2400" spc="-1" strike="noStrike">
              <a:solidFill>
                <a:srgbClr val="000000"/>
              </a:solidFill>
              <a:latin typeface="Calibri"/>
            </a:endParaRPr>
          </a:p>
          <a:p>
            <a:pPr marL="228600" indent="-228600">
              <a:lnSpc>
                <a:spcPct val="15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pc="-1" strike="noStrike">
                <a:solidFill>
                  <a:srgbClr val="000000"/>
                </a:solidFill>
                <a:latin typeface="Times New Roman"/>
                <a:ea typeface="Times New Roman"/>
              </a:rPr>
              <a:t>Literature Survey</a:t>
            </a:r>
            <a:endParaRPr b="0" lang="en-US" sz="2400" spc="-1" strike="noStrike">
              <a:solidFill>
                <a:srgbClr val="000000"/>
              </a:solidFill>
              <a:latin typeface="Calibri"/>
            </a:endParaRPr>
          </a:p>
          <a:p>
            <a:pPr marL="228600" indent="-228600">
              <a:lnSpc>
                <a:spcPct val="15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pc="-1" strike="noStrike">
                <a:solidFill>
                  <a:srgbClr val="000000"/>
                </a:solidFill>
                <a:latin typeface="Times New Roman"/>
                <a:ea typeface="Times New Roman"/>
              </a:rPr>
              <a:t>Objectives</a:t>
            </a:r>
            <a:endParaRPr b="0" lang="en-US" sz="2400" spc="-1" strike="noStrike">
              <a:solidFill>
                <a:srgbClr val="000000"/>
              </a:solidFill>
              <a:latin typeface="Calibri"/>
            </a:endParaRPr>
          </a:p>
          <a:p>
            <a:pPr marL="228600" indent="-228600">
              <a:lnSpc>
                <a:spcPct val="15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pc="-1" strike="noStrike">
                <a:solidFill>
                  <a:srgbClr val="000000"/>
                </a:solidFill>
                <a:latin typeface="Times New Roman"/>
                <a:ea typeface="Times New Roman"/>
              </a:rPr>
              <a:t>Expected Outcomes</a:t>
            </a:r>
            <a:endParaRPr b="0" lang="en-US" sz="2400" spc="-1" strike="noStrike">
              <a:solidFill>
                <a:srgbClr val="000000"/>
              </a:solidFill>
              <a:latin typeface="Calibri"/>
            </a:endParaRPr>
          </a:p>
          <a:p>
            <a:pPr marL="228600" indent="-228600">
              <a:lnSpc>
                <a:spcPct val="15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pc="-1" strike="noStrike">
                <a:solidFill>
                  <a:srgbClr val="000000"/>
                </a:solidFill>
                <a:latin typeface="Times New Roman"/>
                <a:ea typeface="Times New Roman"/>
              </a:rPr>
              <a:t>Methodology/Architecture </a:t>
            </a:r>
            <a:endParaRPr b="0" lang="en-US" sz="2400" spc="-1" strike="noStrike">
              <a:solidFill>
                <a:srgbClr val="000000"/>
              </a:solidFill>
              <a:latin typeface="Calibri"/>
            </a:endParaRPr>
          </a:p>
          <a:p>
            <a:pPr marL="228600" indent="-228600">
              <a:lnSpc>
                <a:spcPct val="15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pc="-1" strike="noStrike">
                <a:solidFill>
                  <a:srgbClr val="000000"/>
                </a:solidFill>
                <a:latin typeface="Times New Roman"/>
                <a:ea typeface="Times New Roman"/>
              </a:rPr>
              <a:t>Conclusions</a:t>
            </a:r>
            <a:endParaRPr b="0" lang="en-US" sz="2400" spc="-1" strike="noStrike">
              <a:solidFill>
                <a:srgbClr val="000000"/>
              </a:solidFill>
              <a:latin typeface="Calibri"/>
            </a:endParaRPr>
          </a:p>
          <a:p>
            <a:pPr marL="228600" indent="-228600">
              <a:lnSpc>
                <a:spcPct val="15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pc="-1" strike="noStrike">
                <a:solidFill>
                  <a:srgbClr val="000000"/>
                </a:solidFill>
                <a:latin typeface="Times New Roman"/>
                <a:ea typeface="Times New Roman"/>
              </a:rPr>
              <a:t>References</a:t>
            </a:r>
            <a:endParaRPr b="0" lang="en-US" sz="2400" spc="-1" strike="noStrike">
              <a:solidFill>
                <a:srgbClr val="000000"/>
              </a:solidFill>
              <a:latin typeface="Calibri"/>
            </a:endParaRPr>
          </a:p>
        </p:txBody>
      </p:sp>
      <p:sp>
        <p:nvSpPr>
          <p:cNvPr id="23" name="Slide Number Placeholder 7"/>
          <p:cNvSpPr/>
          <p:nvPr/>
        </p:nvSpPr>
        <p:spPr>
          <a:xfrm>
            <a:off x="8610480" y="6356520"/>
            <a:ext cx="2743200" cy="36504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B9916A9-23D4-4D7D-8D75-C3982FCFF8EB}" type="slidenum">
              <a:rPr b="0" lang="en-IN" sz="1200" spc="-1" strike="noStrike">
                <a:solidFill>
                  <a:srgbClr val="898989"/>
                </a:solidFill>
                <a:latin typeface="Calibri"/>
              </a:rPr>
              <a:t>&lt;number&gt;</a:t>
            </a:fld>
            <a:endParaRPr b="0" lang="en-US" sz="1200" spc="-1" strike="noStrike">
              <a:solidFill>
                <a:srgbClr val="000000"/>
              </a:solidFill>
              <a:latin typeface="Arial"/>
            </a:endParaRPr>
          </a:p>
        </p:txBody>
      </p:sp>
      <p:sp>
        <p:nvSpPr>
          <p:cNvPr id="24" name="Footer Placeholder 1"/>
          <p:cNvSpPr/>
          <p:nvPr/>
        </p:nvSpPr>
        <p:spPr>
          <a:xfrm>
            <a:off x="4038480" y="6356520"/>
            <a:ext cx="4114800" cy="365040"/>
          </a:xfrm>
          <a:prstGeom prst="rect">
            <a:avLst/>
          </a:prstGeom>
          <a:noFill/>
          <a:ln w="0">
            <a:noFill/>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898989"/>
                </a:solidFill>
                <a:latin typeface="Calibri"/>
              </a:rPr>
              <a:t>Dept of AIDS,ACET                     2026-27                                                                                                        </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 name="PlaceHolder 1"/>
          <p:cNvSpPr>
            <a:spLocks noGrp="1"/>
          </p:cNvSpPr>
          <p:nvPr>
            <p:ph type="title"/>
          </p:nvPr>
        </p:nvSpPr>
        <p:spPr>
          <a:xfrm>
            <a:off x="838080" y="365040"/>
            <a:ext cx="10515600" cy="1325520"/>
          </a:xfrm>
          <a:prstGeom prst="rect">
            <a:avLst/>
          </a:prstGeom>
          <a:noFill/>
          <a:ln w="0">
            <a:noFill/>
          </a:ln>
        </p:spPr>
        <p:txBody>
          <a:bodyPr lIns="91440" rIns="91440" tIns="45720" bIns="45720" anchor="ctr">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400" spc="-1" strike="noStrike">
                <a:solidFill>
                  <a:srgbClr val="000000"/>
                </a:solidFill>
                <a:latin typeface="Times New Roman"/>
                <a:ea typeface="Times New Roman"/>
              </a:rPr>
              <a:t>Introduction</a:t>
            </a:r>
            <a:endParaRPr b="0" lang="en-US" sz="4400" spc="-1" strike="noStrike">
              <a:solidFill>
                <a:srgbClr val="000000"/>
              </a:solidFill>
              <a:latin typeface="Calibri Light"/>
            </a:endParaRPr>
          </a:p>
        </p:txBody>
      </p:sp>
      <p:sp>
        <p:nvSpPr>
          <p:cNvPr id="26" name="Slide Number Placeholder 9"/>
          <p:cNvSpPr/>
          <p:nvPr/>
        </p:nvSpPr>
        <p:spPr>
          <a:xfrm>
            <a:off x="8610480" y="6356520"/>
            <a:ext cx="2743200" cy="36504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7209415-E00E-4CDC-A333-7A1F5035496B}" type="slidenum">
              <a:rPr b="0" lang="en-IN" sz="1200" spc="-1" strike="noStrike">
                <a:solidFill>
                  <a:srgbClr val="898989"/>
                </a:solidFill>
                <a:latin typeface="Calibri"/>
              </a:rPr>
              <a:t>&lt;number&gt;</a:t>
            </a:fld>
            <a:endParaRPr b="0" lang="en-US" sz="1200" spc="-1" strike="noStrike">
              <a:solidFill>
                <a:srgbClr val="000000"/>
              </a:solidFill>
              <a:latin typeface="Arial"/>
            </a:endParaRPr>
          </a:p>
        </p:txBody>
      </p:sp>
      <p:sp>
        <p:nvSpPr>
          <p:cNvPr id="27" name="Footer Placeholder 3"/>
          <p:cNvSpPr/>
          <p:nvPr/>
        </p:nvSpPr>
        <p:spPr>
          <a:xfrm>
            <a:off x="4038480" y="6356520"/>
            <a:ext cx="4114800" cy="365040"/>
          </a:xfrm>
          <a:prstGeom prst="rect">
            <a:avLst/>
          </a:prstGeom>
          <a:noFill/>
          <a:ln w="0">
            <a:noFill/>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898989"/>
                </a:solidFill>
                <a:latin typeface="Calibri"/>
              </a:rPr>
              <a:t>Dept of CSE,ACET                     2025-26                                                                                                         </a:t>
            </a:r>
            <a:endParaRPr b="0" lang="en-US" sz="1200" spc="-1" strike="noStrike">
              <a:solidFill>
                <a:srgbClr val="000000"/>
              </a:solidFill>
              <a:latin typeface="Arial"/>
            </a:endParaRPr>
          </a:p>
        </p:txBody>
      </p:sp>
      <p:sp>
        <p:nvSpPr>
          <p:cNvPr id="28" name=""/>
          <p:cNvSpPr txBox="1"/>
          <p:nvPr/>
        </p:nvSpPr>
        <p:spPr>
          <a:xfrm>
            <a:off x="837720" y="1496880"/>
            <a:ext cx="9829800" cy="4330800"/>
          </a:xfrm>
          <a:prstGeom prst="rect">
            <a:avLst/>
          </a:prstGeom>
          <a:noFill/>
          <a:ln w="0">
            <a:noFill/>
          </a:ln>
        </p:spPr>
        <p:txBody>
          <a:bodyPr anchor="t">
            <a:normAutofit fontScale="98192" lnSpcReduction="10000"/>
          </a:bodyPr>
          <a:p>
            <a:pPr marL="228600" indent="-228600">
              <a:lnSpc>
                <a:spcPct val="9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0000"/>
                </a:solidFill>
                <a:latin typeface="Times New Roman"/>
                <a:ea typeface="Times New Roman"/>
              </a:rPr>
              <a:t>Modern web applications run on cloud platforms such as Kubernetes, where each application is split into small units called </a:t>
            </a:r>
            <a:r>
              <a:rPr b="1" lang="en-US" sz="2400" spc="-1" strike="noStrike">
                <a:solidFill>
                  <a:srgbClr val="000000"/>
                </a:solidFill>
                <a:latin typeface="Times New Roman"/>
                <a:ea typeface="Times New Roman"/>
              </a:rPr>
              <a:t>pods</a:t>
            </a:r>
            <a:r>
              <a:rPr b="0" lang="en-US" sz="2400" spc="-1" strike="noStrike">
                <a:solidFill>
                  <a:srgbClr val="000000"/>
                </a:solidFill>
                <a:latin typeface="Times New Roman"/>
                <a:ea typeface="Times New Roman"/>
              </a:rPr>
              <a:t>. Every pod can handle only a limited amount of traffic and costs money while it runs. </a:t>
            </a:r>
            <a:r>
              <a:rPr b="1" lang="en-US" sz="2400" spc="-1" strike="noStrike">
                <a:solidFill>
                  <a:srgbClr val="000000"/>
                </a:solidFill>
                <a:latin typeface="Times New Roman"/>
                <a:ea typeface="Times New Roman"/>
              </a:rPr>
              <a:t>Autoscaling</a:t>
            </a:r>
            <a:r>
              <a:rPr b="0" lang="en-US" sz="2400" spc="-1" strike="noStrike">
                <a:solidFill>
                  <a:srgbClr val="000000"/>
                </a:solidFill>
                <a:latin typeface="Times New Roman"/>
                <a:ea typeface="Times New Roman"/>
              </a:rPr>
              <a:t> adds or removes pods automatically as traffic changes.</a:t>
            </a:r>
            <a:endParaRPr b="0" lang="en-US" sz="2400" spc="-1" strike="noStrike">
              <a:solidFill>
                <a:srgbClr val="000000"/>
              </a:solidFill>
              <a:latin typeface="Calibri"/>
            </a:endParaRPr>
          </a:p>
          <a:p>
            <a:pPr marL="228600" indent="-228600">
              <a:lnSpc>
                <a:spcPct val="9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0000"/>
                </a:solidFill>
                <a:latin typeface="Times New Roman"/>
                <a:ea typeface="Times New Roman"/>
              </a:rPr>
              <a:t>The default Kubernetes autoscaler, the Horizontal Pod Autoscaler (HPA), scales only after CPU or memory crosses a fixed threshold. Traffic in real applications follows patterns, such as a lunch rush on a food-delivery app or a deadline rush on an exam-registration portal. Because these patterns can be predicted, machine learning can help the system scale before the spike arrives.</a:t>
            </a:r>
            <a:endParaRPr b="0" lang="en-US" sz="2400" spc="-1" strike="noStrike">
              <a:solidFill>
                <a:srgbClr val="000000"/>
              </a:solidFill>
              <a:latin typeface="Calibri"/>
            </a:endParaRPr>
          </a:p>
          <a:p>
            <a:pPr marL="228600" indent="-228600">
              <a:lnSpc>
                <a:spcPct val="9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0000"/>
                </a:solidFill>
                <a:latin typeface="Times New Roman"/>
                <a:ea typeface="Times New Roman"/>
              </a:rPr>
              <a:t>This project builds a simple, explainable autoscaling system that predicts traffic and also considers </a:t>
            </a:r>
            <a:r>
              <a:rPr b="1" lang="en-US" sz="2400" spc="-1" strike="noStrike">
                <a:solidFill>
                  <a:srgbClr val="000000"/>
                </a:solidFill>
                <a:latin typeface="Times New Roman"/>
                <a:ea typeface="Times New Roman"/>
              </a:rPr>
              <a:t>cost</a:t>
            </a:r>
            <a:r>
              <a:rPr b="0" lang="en-US" sz="2400" spc="-1" strike="noStrike">
                <a:solidFill>
                  <a:srgbClr val="000000"/>
                </a:solidFill>
                <a:latin typeface="Times New Roman"/>
                <a:ea typeface="Times New Roman"/>
              </a:rPr>
              <a:t> and </a:t>
            </a:r>
            <a:r>
              <a:rPr b="1" lang="en-US" sz="2400" spc="-1" strike="noStrike">
                <a:solidFill>
                  <a:srgbClr val="000000"/>
                </a:solidFill>
                <a:latin typeface="Times New Roman"/>
                <a:ea typeface="Times New Roman"/>
              </a:rPr>
              <a:t>prediction confidence</a:t>
            </a:r>
            <a:r>
              <a:rPr b="0" lang="en-US" sz="2400" spc="-1" strike="noStrike">
                <a:solidFill>
                  <a:srgbClr val="000000"/>
                </a:solidFill>
                <a:latin typeface="Times New Roman"/>
                <a:ea typeface="Times New Roman"/>
              </a:rPr>
              <a:t> when deciding how many pods to run.</a:t>
            </a:r>
            <a:endParaRPr b="0" lang="en-US" sz="2400" spc="-1" strike="noStrike">
              <a:solidFill>
                <a:srgbClr val="000000"/>
              </a:solidFill>
              <a:latin typeface="Calibri"/>
            </a:endParaRPr>
          </a:p>
          <a:p>
            <a:pPr marL="228600" indent="-228600" algn="just">
              <a:lnSpc>
                <a:spcPct val="9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 name="PlaceHolder 1"/>
          <p:cNvSpPr>
            <a:spLocks noGrp="1"/>
          </p:cNvSpPr>
          <p:nvPr>
            <p:ph type="title"/>
          </p:nvPr>
        </p:nvSpPr>
        <p:spPr>
          <a:xfrm>
            <a:off x="838080" y="365040"/>
            <a:ext cx="10515600" cy="1325520"/>
          </a:xfrm>
          <a:prstGeom prst="rect">
            <a:avLst/>
          </a:prstGeom>
          <a:noFill/>
          <a:ln w="0">
            <a:noFill/>
          </a:ln>
        </p:spPr>
        <p:txBody>
          <a:bodyPr lIns="91440" rIns="91440" tIns="45720" bIns="45720" anchor="ctr">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400" spc="-1" strike="noStrike">
                <a:solidFill>
                  <a:srgbClr val="000000"/>
                </a:solidFill>
                <a:latin typeface="Times New Roman"/>
                <a:ea typeface="Times New Roman"/>
              </a:rPr>
              <a:t>Problem Statement</a:t>
            </a:r>
            <a:endParaRPr b="0" lang="en-US" sz="4400" spc="-1" strike="noStrike">
              <a:solidFill>
                <a:srgbClr val="000000"/>
              </a:solidFill>
              <a:latin typeface="Calibri Light"/>
            </a:endParaRPr>
          </a:p>
        </p:txBody>
      </p:sp>
      <p:sp>
        <p:nvSpPr>
          <p:cNvPr id="30" name=""/>
          <p:cNvSpPr txBox="1"/>
          <p:nvPr/>
        </p:nvSpPr>
        <p:spPr>
          <a:xfrm>
            <a:off x="838080" y="1476000"/>
            <a:ext cx="10515600" cy="4700520"/>
          </a:xfrm>
          <a:prstGeom prst="rect">
            <a:avLst/>
          </a:prstGeom>
          <a:noFill/>
          <a:ln w="0">
            <a:noFill/>
          </a:ln>
        </p:spPr>
        <p:txBody>
          <a:bodyPr anchor="t">
            <a:normAutofit/>
          </a:bodyPr>
          <a:p>
            <a:pPr marL="228600" indent="-228600">
              <a:lnSpc>
                <a:spcPct val="7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600" spc="-1" strike="noStrike">
                <a:solidFill>
                  <a:srgbClr val="000000"/>
                </a:solidFill>
                <a:latin typeface="Times New Roman"/>
                <a:ea typeface="Times New Roman"/>
              </a:rPr>
              <a:t>HPA is reactive. During sudden spikes (a flash sale, an exam-registration rush, a lunch surge), real users hit slowdowns or failures before new pods are ready.</a:t>
            </a:r>
            <a:endParaRPr b="0" lang="en-US" sz="2600" spc="-1" strike="noStrike">
              <a:solidFill>
                <a:srgbClr val="000000"/>
              </a:solidFill>
              <a:latin typeface="Calibri"/>
            </a:endParaRPr>
          </a:p>
          <a:p>
            <a:pPr marL="228600" indent="-228600">
              <a:lnSpc>
                <a:spcPct val="7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600" spc="-1" strike="noStrike">
                <a:solidFill>
                  <a:srgbClr val="000000"/>
                </a:solidFill>
                <a:latin typeface="Times New Roman"/>
                <a:ea typeface="Times New Roman"/>
              </a:rPr>
              <a:t>Recent research uses machine learning to predict traffic and scale ahead of time. But these systems mostly optimize a single goal, avoiding slowdowns, and do not reason about the trade-off between two risks:</a:t>
            </a:r>
            <a:endParaRPr b="0" lang="en-US" sz="2600" spc="-1" strike="noStrike">
              <a:solidFill>
                <a:srgbClr val="000000"/>
              </a:solidFill>
              <a:latin typeface="Calibri"/>
            </a:endParaRPr>
          </a:p>
          <a:p>
            <a:pPr marL="228600" indent="-228600">
              <a:lnSpc>
                <a:spcPct val="7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2600" spc="-1" strike="noStrike">
                <a:solidFill>
                  <a:srgbClr val="000000"/>
                </a:solidFill>
                <a:latin typeface="Times New Roman"/>
                <a:ea typeface="Times New Roman"/>
              </a:rPr>
              <a:t>Scaling early or aggressively</a:t>
            </a:r>
            <a:r>
              <a:rPr b="0" lang="en-US" sz="2600" spc="-1" strike="noStrike">
                <a:solidFill>
                  <a:srgbClr val="000000"/>
                </a:solidFill>
                <a:latin typeface="Times New Roman"/>
                <a:ea typeface="Times New Roman"/>
              </a:rPr>
              <a:t> avoids slowdowns but wastes money on idle servers.</a:t>
            </a:r>
            <a:endParaRPr b="0" lang="en-US" sz="2600" spc="-1" strike="noStrike">
              <a:solidFill>
                <a:srgbClr val="000000"/>
              </a:solidFill>
              <a:latin typeface="Calibri"/>
            </a:endParaRPr>
          </a:p>
          <a:p>
            <a:pPr marL="228600" indent="-228600">
              <a:lnSpc>
                <a:spcPct val="7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2600" spc="-1" strike="noStrike">
                <a:solidFill>
                  <a:srgbClr val="000000"/>
                </a:solidFill>
                <a:latin typeface="Times New Roman"/>
                <a:ea typeface="Times New Roman"/>
              </a:rPr>
              <a:t>Scaling late or conservatively</a:t>
            </a:r>
            <a:r>
              <a:rPr b="0" lang="en-US" sz="2600" spc="-1" strike="noStrike">
                <a:solidFill>
                  <a:srgbClr val="000000"/>
                </a:solidFill>
                <a:latin typeface="Times New Roman"/>
                <a:ea typeface="Times New Roman"/>
              </a:rPr>
              <a:t> saves money but risks poor performance during real spikes.</a:t>
            </a:r>
            <a:endParaRPr b="0" lang="en-US" sz="2600" spc="-1" strike="noStrike">
              <a:solidFill>
                <a:srgbClr val="000000"/>
              </a:solidFill>
              <a:latin typeface="Calibri"/>
            </a:endParaRPr>
          </a:p>
          <a:p>
            <a:pPr marL="228600" indent="-228600">
              <a:lnSpc>
                <a:spcPct val="7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600" spc="-1" strike="noStrike">
                <a:solidFill>
                  <a:srgbClr val="000000"/>
                </a:solidFill>
                <a:latin typeface="Times New Roman"/>
                <a:ea typeface="Times New Roman"/>
              </a:rPr>
              <a:t>There is no simple, explainable system that predicts traffic and picks the most cost-efficient number of pods while accounting for how confident the prediction is.</a:t>
            </a:r>
            <a:endParaRPr b="0" lang="en-US" sz="2600" spc="-1" strike="noStrike">
              <a:solidFill>
                <a:srgbClr val="000000"/>
              </a:solidFill>
              <a:latin typeface="Calibri"/>
            </a:endParaRPr>
          </a:p>
          <a:p>
            <a:pPr marL="228600" indent="-228600">
              <a:lnSpc>
                <a:spcPct val="7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600" spc="-1" strike="noStrike">
              <a:solidFill>
                <a:srgbClr val="000000"/>
              </a:solidFill>
              <a:latin typeface="Calibri"/>
            </a:endParaRPr>
          </a:p>
        </p:txBody>
      </p:sp>
      <p:sp>
        <p:nvSpPr>
          <p:cNvPr id="31" name="Slide Number Placeholder 8"/>
          <p:cNvSpPr/>
          <p:nvPr/>
        </p:nvSpPr>
        <p:spPr>
          <a:xfrm>
            <a:off x="8610480" y="6356520"/>
            <a:ext cx="2743200" cy="36504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58A8517-11D7-4FD7-9B2B-72BEABF55735}" type="slidenum">
              <a:rPr b="0" lang="en-IN" sz="1200" spc="-1" strike="noStrike">
                <a:solidFill>
                  <a:srgbClr val="898989"/>
                </a:solidFill>
                <a:latin typeface="Calibri"/>
              </a:rPr>
              <a:t>&lt;number&gt;</a:t>
            </a:fld>
            <a:endParaRPr b="0" lang="en-US" sz="1200" spc="-1" strike="noStrike">
              <a:solidFill>
                <a:srgbClr val="000000"/>
              </a:solidFill>
              <a:latin typeface="Arial"/>
            </a:endParaRPr>
          </a:p>
        </p:txBody>
      </p:sp>
      <p:sp>
        <p:nvSpPr>
          <p:cNvPr id="32" name="Footer Placeholder 3"/>
          <p:cNvSpPr/>
          <p:nvPr/>
        </p:nvSpPr>
        <p:spPr>
          <a:xfrm>
            <a:off x="4038480" y="6356520"/>
            <a:ext cx="4114800" cy="365040"/>
          </a:xfrm>
          <a:prstGeom prst="rect">
            <a:avLst/>
          </a:prstGeom>
          <a:noFill/>
          <a:ln w="0">
            <a:noFill/>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898989"/>
                </a:solidFill>
                <a:latin typeface="Calibri"/>
              </a:rPr>
              <a:t>Dept of CSE,ACET                     2025-26                                                                                                        </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 name="PlaceHolder 1"/>
          <p:cNvSpPr>
            <a:spLocks noGrp="1"/>
          </p:cNvSpPr>
          <p:nvPr>
            <p:ph type="title"/>
          </p:nvPr>
        </p:nvSpPr>
        <p:spPr>
          <a:xfrm>
            <a:off x="837720" y="364680"/>
            <a:ext cx="10426680" cy="700200"/>
          </a:xfrm>
          <a:prstGeom prst="rect">
            <a:avLst/>
          </a:prstGeom>
          <a:noFill/>
          <a:ln w="0">
            <a:noFill/>
          </a:ln>
        </p:spPr>
        <p:txBody>
          <a:bodyPr lIns="91440" rIns="91440" tIns="45720" bIns="45720" anchor="ctr">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600" spc="-1" strike="noStrike">
                <a:solidFill>
                  <a:srgbClr val="000000"/>
                </a:solidFill>
                <a:latin typeface="Times New Roman"/>
                <a:ea typeface="Times New Roman"/>
              </a:rPr>
              <a:t>Literature Survey</a:t>
            </a:r>
            <a:endParaRPr b="0" lang="en-US" sz="3600" spc="-1" strike="noStrike">
              <a:solidFill>
                <a:srgbClr val="000000"/>
              </a:solidFill>
              <a:latin typeface="Calibri Light"/>
            </a:endParaRPr>
          </a:p>
        </p:txBody>
      </p:sp>
      <p:sp>
        <p:nvSpPr>
          <p:cNvPr id="34" name="Footer Placeholder 3"/>
          <p:cNvSpPr/>
          <p:nvPr/>
        </p:nvSpPr>
        <p:spPr>
          <a:xfrm>
            <a:off x="4038480" y="6356520"/>
            <a:ext cx="4114800" cy="365040"/>
          </a:xfrm>
          <a:prstGeom prst="rect">
            <a:avLst/>
          </a:prstGeom>
          <a:noFill/>
          <a:ln w="0">
            <a:noFill/>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898989"/>
                </a:solidFill>
                <a:latin typeface="Calibri"/>
              </a:rPr>
              <a:t>Dept of CSE,ACET                     2025-26                                                                                                      </a:t>
            </a:r>
            <a:endParaRPr b="0" lang="en-US" sz="1200" spc="-1" strike="noStrike">
              <a:solidFill>
                <a:srgbClr val="000000"/>
              </a:solidFill>
              <a:latin typeface="Arial"/>
            </a:endParaRPr>
          </a:p>
        </p:txBody>
      </p:sp>
      <p:sp>
        <p:nvSpPr>
          <p:cNvPr id="35" name="Slide Number Placeholder 4"/>
          <p:cNvSpPr/>
          <p:nvPr/>
        </p:nvSpPr>
        <p:spPr>
          <a:xfrm>
            <a:off x="8610480" y="6356520"/>
            <a:ext cx="2743200" cy="36504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5338BBF-002C-47E1-8052-202DAE2014B3}" type="slidenum">
              <a:rPr b="0" lang="en-IN" sz="1200" spc="-1" strike="noStrike">
                <a:solidFill>
                  <a:srgbClr val="898989"/>
                </a:solidFill>
                <a:latin typeface="Calibri"/>
              </a:rPr>
              <a:t>&lt;number&gt;</a:t>
            </a:fld>
            <a:endParaRPr b="0" lang="en-US" sz="1200" spc="-1" strike="noStrike">
              <a:solidFill>
                <a:srgbClr val="000000"/>
              </a:solidFill>
              <a:latin typeface="Arial"/>
            </a:endParaRPr>
          </a:p>
        </p:txBody>
      </p:sp>
      <p:pic>
        <p:nvPicPr>
          <p:cNvPr id="36" name="Picture 2" descr=""/>
          <p:cNvPicPr/>
          <p:nvPr/>
        </p:nvPicPr>
        <p:blipFill>
          <a:blip r:embed="rId1"/>
          <a:stretch/>
        </p:blipFill>
        <p:spPr>
          <a:xfrm>
            <a:off x="1003320" y="0"/>
            <a:ext cx="10058400" cy="677232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 name="PlaceHolder 1"/>
          <p:cNvSpPr>
            <a:spLocks noGrp="1"/>
          </p:cNvSpPr>
          <p:nvPr>
            <p:ph type="title"/>
          </p:nvPr>
        </p:nvSpPr>
        <p:spPr>
          <a:xfrm>
            <a:off x="838080" y="365040"/>
            <a:ext cx="10515600" cy="1325520"/>
          </a:xfrm>
          <a:prstGeom prst="rect">
            <a:avLst/>
          </a:prstGeom>
          <a:noFill/>
          <a:ln w="0">
            <a:noFill/>
          </a:ln>
        </p:spPr>
        <p:txBody>
          <a:bodyPr lIns="91440" rIns="91440" tIns="45720" bIns="45720" anchor="ctr">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400" spc="-1" strike="noStrike">
                <a:solidFill>
                  <a:srgbClr val="000000"/>
                </a:solidFill>
                <a:latin typeface="Times New Roman"/>
                <a:ea typeface="Times New Roman"/>
              </a:rPr>
              <a:t>Objectives</a:t>
            </a:r>
            <a:r>
              <a:rPr b="1" lang="en-IN" sz="4400" spc="-1" strike="noStrike">
                <a:solidFill>
                  <a:srgbClr val="000000"/>
                </a:solidFill>
                <a:latin typeface="Calibri Light"/>
              </a:rPr>
              <a:t> </a:t>
            </a:r>
            <a:endParaRPr b="0" lang="en-US" sz="4400" spc="-1" strike="noStrike">
              <a:solidFill>
                <a:srgbClr val="000000"/>
              </a:solidFill>
              <a:latin typeface="Calibri Light"/>
            </a:endParaRPr>
          </a:p>
        </p:txBody>
      </p:sp>
      <p:sp>
        <p:nvSpPr>
          <p:cNvPr id="38" name=""/>
          <p:cNvSpPr txBox="1"/>
          <p:nvPr/>
        </p:nvSpPr>
        <p:spPr>
          <a:xfrm>
            <a:off x="838080" y="1496880"/>
            <a:ext cx="10515600" cy="4680000"/>
          </a:xfrm>
          <a:prstGeom prst="rect">
            <a:avLst/>
          </a:prstGeom>
          <a:noFill/>
          <a:ln w="0">
            <a:noFill/>
          </a:ln>
        </p:spPr>
        <p:txBody>
          <a:bodyPr anchor="t">
            <a:normAutofit/>
          </a:bodyPr>
          <a:p>
            <a:pPr marL="228600" indent="-228600">
              <a:lnSpc>
                <a:spcPct val="9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0000"/>
                </a:solidFill>
                <a:latin typeface="Times New Roman"/>
                <a:ea typeface="Times New Roman"/>
              </a:rPr>
              <a:t>Build a traffic forecasting module (Prophet baseline, optional LSTM) on synthetic traffic modeled after a real domain's usage pattern.</a:t>
            </a:r>
            <a:endParaRPr b="0" lang="en-US" sz="2400" spc="-1" strike="noStrike">
              <a:solidFill>
                <a:srgbClr val="000000"/>
              </a:solidFill>
              <a:latin typeface="Calibri"/>
            </a:endParaRPr>
          </a:p>
          <a:p>
            <a:pPr marL="228600" indent="-228600">
              <a:lnSpc>
                <a:spcPct val="9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0000"/>
                </a:solidFill>
                <a:latin typeface="Times New Roman"/>
                <a:ea typeface="Times New Roman"/>
              </a:rPr>
              <a:t>Design a cost-aware decision layer that outputs "scale to N pods" using predicted load, current pods, cost per pod, and prediction uncertainty.</a:t>
            </a:r>
            <a:endParaRPr b="0" lang="en-US" sz="2400" spc="-1" strike="noStrike">
              <a:solidFill>
                <a:srgbClr val="000000"/>
              </a:solidFill>
              <a:latin typeface="Calibri"/>
            </a:endParaRPr>
          </a:p>
          <a:p>
            <a:pPr marL="228600" indent="-228600">
              <a:lnSpc>
                <a:spcPct val="9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0000"/>
                </a:solidFill>
                <a:latin typeface="Times New Roman"/>
                <a:ea typeface="Times New Roman"/>
              </a:rPr>
              <a:t>Implement the system on Kubernetes and compare it against default HPA and simple ML-predictive scaling.</a:t>
            </a:r>
            <a:endParaRPr b="0" lang="en-US" sz="2400" spc="-1" strike="noStrike">
              <a:solidFill>
                <a:srgbClr val="000000"/>
              </a:solidFill>
              <a:latin typeface="Calibri"/>
            </a:endParaRPr>
          </a:p>
          <a:p>
            <a:pPr marL="228600" indent="-228600">
              <a:lnSpc>
                <a:spcPct val="9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0000"/>
                </a:solidFill>
                <a:latin typeface="Times New Roman"/>
                <a:ea typeface="Times New Roman"/>
              </a:rPr>
              <a:t>Measure performance and cost using pod count, load, SLO-violation time, and cost over time on a Prometheus + Grafana dashboard.</a:t>
            </a:r>
            <a:endParaRPr b="0" lang="en-US" sz="2400" spc="-1" strike="noStrike">
              <a:solidFill>
                <a:srgbClr val="000000"/>
              </a:solidFill>
              <a:latin typeface="Calibri"/>
            </a:endParaRPr>
          </a:p>
          <a:p>
            <a:pPr marL="228600" indent="-228600">
              <a:lnSpc>
                <a:spcPct val="9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0000"/>
                </a:solidFill>
                <a:latin typeface="Times New Roman"/>
                <a:ea typeface="Times New Roman"/>
              </a:rPr>
              <a:t>Show that the cost-aware approach reduces wasted spend without a large rise in slowdowns.</a:t>
            </a:r>
            <a:endParaRPr b="0" lang="en-US" sz="2400" spc="-1" strike="noStrike">
              <a:solidFill>
                <a:srgbClr val="000000"/>
              </a:solidFill>
              <a:latin typeface="Calibri"/>
            </a:endParaRPr>
          </a:p>
          <a:p>
            <a:pPr marL="228600" indent="-228600" algn="just">
              <a:lnSpc>
                <a:spcPct val="9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Calibri"/>
            </a:endParaRPr>
          </a:p>
        </p:txBody>
      </p:sp>
      <p:sp>
        <p:nvSpPr>
          <p:cNvPr id="39" name="Slide Number Placeholder 8"/>
          <p:cNvSpPr/>
          <p:nvPr/>
        </p:nvSpPr>
        <p:spPr>
          <a:xfrm>
            <a:off x="8610480" y="6356520"/>
            <a:ext cx="2743200" cy="36504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F30D9A9-48B6-4EC6-82A6-14F01BF76D45}" type="slidenum">
              <a:rPr b="0" lang="en-IN" sz="1200" spc="-1" strike="noStrike">
                <a:solidFill>
                  <a:srgbClr val="898989"/>
                </a:solidFill>
                <a:latin typeface="Calibri"/>
              </a:rPr>
              <a:t>&lt;number&gt;</a:t>
            </a:fld>
            <a:endParaRPr b="0" lang="en-US" sz="1200" spc="-1" strike="noStrike">
              <a:solidFill>
                <a:srgbClr val="000000"/>
              </a:solidFill>
              <a:latin typeface="Arial"/>
            </a:endParaRPr>
          </a:p>
        </p:txBody>
      </p:sp>
      <p:sp>
        <p:nvSpPr>
          <p:cNvPr id="40" name="Footer Placeholder 9"/>
          <p:cNvSpPr/>
          <p:nvPr/>
        </p:nvSpPr>
        <p:spPr>
          <a:xfrm>
            <a:off x="4038480" y="6356520"/>
            <a:ext cx="4114800" cy="365040"/>
          </a:xfrm>
          <a:prstGeom prst="rect">
            <a:avLst/>
          </a:prstGeom>
          <a:noFill/>
          <a:ln w="0">
            <a:noFill/>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898989"/>
                </a:solidFill>
                <a:latin typeface="Calibri"/>
              </a:rPr>
              <a:t>Dept of CSE,ACET                     2025-26                                                                                                          </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 name="PlaceHolder 1"/>
          <p:cNvSpPr>
            <a:spLocks noGrp="1"/>
          </p:cNvSpPr>
          <p:nvPr>
            <p:ph type="title"/>
          </p:nvPr>
        </p:nvSpPr>
        <p:spPr>
          <a:xfrm>
            <a:off x="838080" y="365040"/>
            <a:ext cx="10515600" cy="992160"/>
          </a:xfrm>
          <a:prstGeom prst="rect">
            <a:avLst/>
          </a:prstGeom>
          <a:noFill/>
          <a:ln w="0">
            <a:noFill/>
          </a:ln>
        </p:spPr>
        <p:txBody>
          <a:bodyPr lIns="91440" rIns="91440" tIns="45720" bIns="45720" anchor="ctr">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400" spc="-1" strike="noStrike">
                <a:solidFill>
                  <a:srgbClr val="000000"/>
                </a:solidFill>
                <a:latin typeface="Times New Roman"/>
                <a:ea typeface="Times New Roman"/>
              </a:rPr>
              <a:t>Expected Outcomes</a:t>
            </a:r>
            <a:endParaRPr b="0" lang="en-US" sz="4400" spc="-1" strike="noStrike">
              <a:solidFill>
                <a:srgbClr val="000000"/>
              </a:solidFill>
              <a:latin typeface="Calibri Light"/>
            </a:endParaRPr>
          </a:p>
        </p:txBody>
      </p:sp>
      <p:sp>
        <p:nvSpPr>
          <p:cNvPr id="42" name="Footer Placeholder 3"/>
          <p:cNvSpPr/>
          <p:nvPr/>
        </p:nvSpPr>
        <p:spPr>
          <a:xfrm>
            <a:off x="4038480" y="6356520"/>
            <a:ext cx="4114800" cy="365040"/>
          </a:xfrm>
          <a:prstGeom prst="rect">
            <a:avLst/>
          </a:prstGeom>
          <a:noFill/>
          <a:ln w="0">
            <a:noFill/>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898989"/>
                </a:solidFill>
                <a:latin typeface="Calibri"/>
              </a:rPr>
              <a:t>Dept of CSE,ACET                     2025-26</a:t>
            </a:r>
            <a:endParaRPr b="0" lang="en-US" sz="1200" spc="-1" strike="noStrike">
              <a:solidFill>
                <a:srgbClr val="000000"/>
              </a:solidFill>
              <a:latin typeface="Arial"/>
            </a:endParaRPr>
          </a:p>
        </p:txBody>
      </p:sp>
      <p:sp>
        <p:nvSpPr>
          <p:cNvPr id="43" name="Slide Number Placeholder 4"/>
          <p:cNvSpPr/>
          <p:nvPr/>
        </p:nvSpPr>
        <p:spPr>
          <a:xfrm>
            <a:off x="8610480" y="6356520"/>
            <a:ext cx="2743200" cy="36504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BF44B8E-B27F-4671-90F0-C19DAB661D5A}" type="slidenum">
              <a:rPr b="0" lang="en-IN" sz="1200" spc="-1" strike="noStrike">
                <a:solidFill>
                  <a:srgbClr val="898989"/>
                </a:solidFill>
                <a:latin typeface="Calibri"/>
              </a:rPr>
              <a:t>&lt;number&gt;</a:t>
            </a:fld>
            <a:endParaRPr b="0" lang="en-US" sz="1200" spc="-1" strike="noStrike">
              <a:solidFill>
                <a:srgbClr val="000000"/>
              </a:solidFill>
              <a:latin typeface="Arial"/>
            </a:endParaRPr>
          </a:p>
        </p:txBody>
      </p:sp>
      <p:sp>
        <p:nvSpPr>
          <p:cNvPr id="44" name="TextBox 4"/>
          <p:cNvSpPr/>
          <p:nvPr/>
        </p:nvSpPr>
        <p:spPr>
          <a:xfrm>
            <a:off x="1065240" y="1566720"/>
            <a:ext cx="10288440" cy="479052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000000"/>
                </a:solidFill>
                <a:latin typeface="Times New Roman"/>
                <a:ea typeface="Times New Roman"/>
              </a:rPr>
              <a:t>These are expected outcomes to be confirmed by the experiments, not results.</a:t>
            </a:r>
            <a:endParaRPr b="0" lang="en-US" sz="28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000000"/>
                </a:solidFill>
                <a:latin typeface="Times New Roman"/>
                <a:ea typeface="Times New Roman"/>
              </a:rPr>
              <a:t>Compared with default HPA, predictive scaling should reduce slowdowns during sudden spikes.</a:t>
            </a:r>
            <a:endParaRPr b="0" lang="en-US" sz="28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000000"/>
                </a:solidFill>
                <a:latin typeface="Times New Roman"/>
                <a:ea typeface="Times New Roman"/>
              </a:rPr>
              <a:t>Compared with simple ML-predictive scaling, the cost-aware layer should reduce idle pods and total cost while keeping performance within an acceptable limit.</a:t>
            </a:r>
            <a:endParaRPr b="0" lang="en-US" sz="28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000000"/>
                </a:solidFill>
                <a:latin typeface="Times New Roman"/>
                <a:ea typeface="Times New Roman"/>
              </a:rPr>
              <a:t>The decision layer should be explainable: each scaling decision can be traced to the forecast, its confidence, and the cost model.</a:t>
            </a:r>
            <a:endParaRPr b="0" lang="en-US" sz="28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000000"/>
                </a:solidFill>
                <a:latin typeface="Times New Roman"/>
                <a:ea typeface="Times New Roman"/>
              </a:rPr>
              <a:t>A working dashboard should compare the three strategies side by side.</a:t>
            </a:r>
            <a:endParaRPr b="0" lang="en-US" sz="28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 name="PlaceHolder 1"/>
          <p:cNvSpPr>
            <a:spLocks noGrp="1"/>
          </p:cNvSpPr>
          <p:nvPr>
            <p:ph type="title"/>
          </p:nvPr>
        </p:nvSpPr>
        <p:spPr>
          <a:xfrm>
            <a:off x="838080" y="365040"/>
            <a:ext cx="10515600" cy="1325520"/>
          </a:xfrm>
          <a:prstGeom prst="rect">
            <a:avLst/>
          </a:prstGeom>
          <a:noFill/>
          <a:ln w="0">
            <a:noFill/>
          </a:ln>
        </p:spPr>
        <p:txBody>
          <a:bodyPr lIns="91440" rIns="91440" tIns="45720" bIns="45720" anchor="ctr">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400" spc="-1" strike="noStrike">
                <a:solidFill>
                  <a:srgbClr val="000000"/>
                </a:solidFill>
                <a:latin typeface="Times New Roman"/>
                <a:ea typeface="Times New Roman"/>
              </a:rPr>
              <a:t>Methodology/Architecture</a:t>
            </a:r>
            <a:endParaRPr b="0" lang="en-US" sz="4400" spc="-1" strike="noStrike">
              <a:solidFill>
                <a:srgbClr val="000000"/>
              </a:solidFill>
              <a:latin typeface="Calibri Light"/>
            </a:endParaRPr>
          </a:p>
        </p:txBody>
      </p:sp>
      <p:sp>
        <p:nvSpPr>
          <p:cNvPr id="46" name=""/>
          <p:cNvSpPr txBox="1"/>
          <p:nvPr/>
        </p:nvSpPr>
        <p:spPr>
          <a:xfrm>
            <a:off x="838080" y="1825200"/>
            <a:ext cx="10515600" cy="4351320"/>
          </a:xfrm>
          <a:prstGeom prst="rect">
            <a:avLst/>
          </a:prstGeom>
          <a:noFill/>
          <a:ln w="0">
            <a:noFill/>
          </a:ln>
        </p:spPr>
        <p:txBody>
          <a:bodyPr anchor="t">
            <a:normAutofit fontScale="96763"/>
          </a:bodyPr>
          <a:p>
            <a:pPr marL="228600" indent="-228600">
              <a:lnSpc>
                <a:spcPct val="9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pc="-1" strike="noStrike">
                <a:solidFill>
                  <a:srgbClr val="000000"/>
                </a:solidFill>
                <a:latin typeface="Times New Roman"/>
                <a:ea typeface="Times New Roman"/>
              </a:rPr>
              <a:t>Data and workload.</a:t>
            </a:r>
            <a:r>
              <a:rPr b="0" lang="en-US" sz="2400" spc="-1" strike="noStrike">
                <a:solidFill>
                  <a:srgbClr val="000000"/>
                </a:solidFill>
                <a:latin typeface="Times New Roman"/>
                <a:ea typeface="Times New Roman"/>
              </a:rPr>
              <a:t> Generate synthetic traffic with daily rhythm and sudden spikes (for example, an exam-portal deadline rush or a lunch rush). Use k6 to replay it as load against a test application.</a:t>
            </a:r>
            <a:endParaRPr b="0" lang="en-US" sz="2400" spc="-1" strike="noStrike">
              <a:solidFill>
                <a:srgbClr val="000000"/>
              </a:solidFill>
              <a:latin typeface="Calibri"/>
            </a:endParaRPr>
          </a:p>
          <a:p>
            <a:pPr marL="228600" indent="-228600">
              <a:lnSpc>
                <a:spcPct val="9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pc="-1" strike="noStrike">
                <a:solidFill>
                  <a:srgbClr val="000000"/>
                </a:solidFill>
                <a:latin typeface="Times New Roman"/>
                <a:ea typeface="Times New Roman"/>
              </a:rPr>
              <a:t>a) Traffic forecasting module.</a:t>
            </a:r>
            <a:r>
              <a:rPr b="0" lang="en-US" sz="2400" spc="-1" strike="noStrike">
                <a:solidFill>
                  <a:srgbClr val="000000"/>
                </a:solidFill>
                <a:latin typeface="Times New Roman"/>
                <a:ea typeface="Times New Roman"/>
              </a:rPr>
              <a:t> Train Prophet on historical synthetic traffic, with an optional LSTM for comparison. Prophet is interpretable and also gives an uncertainty range, which the next layer uses.</a:t>
            </a:r>
            <a:endParaRPr b="0" lang="en-US" sz="2400" spc="-1" strike="noStrike">
              <a:solidFill>
                <a:srgbClr val="000000"/>
              </a:solidFill>
              <a:latin typeface="Calibri"/>
            </a:endParaRPr>
          </a:p>
          <a:p>
            <a:pPr marL="228600" indent="-228600">
              <a:lnSpc>
                <a:spcPct val="9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pc="-1" strike="noStrike">
                <a:solidFill>
                  <a:srgbClr val="000000"/>
                </a:solidFill>
                <a:latin typeface="Times New Roman"/>
                <a:ea typeface="Times New Roman"/>
              </a:rPr>
              <a:t>b) Cost-aware decision layer (novel contribution).</a:t>
            </a:r>
            <a:r>
              <a:rPr b="0" lang="en-US" sz="2400" spc="-1" strike="noStrike">
                <a:solidFill>
                  <a:srgbClr val="000000"/>
                </a:solidFill>
                <a:latin typeface="Times New Roman"/>
                <a:ea typeface="Times New Roman"/>
              </a:rPr>
              <a:t> Inputs are:</a:t>
            </a:r>
            <a:endParaRPr b="0" lang="en-US" sz="2400" spc="-1" strike="noStrike">
              <a:solidFill>
                <a:srgbClr val="000000"/>
              </a:solidFill>
              <a:latin typeface="Calibri"/>
            </a:endParaRPr>
          </a:p>
          <a:p>
            <a:pPr marL="228600" indent="-228600">
              <a:lnSpc>
                <a:spcPct val="9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0000"/>
                </a:solidFill>
                <a:latin typeface="Times New Roman"/>
                <a:ea typeface="Times New Roman"/>
              </a:rPr>
              <a:t>predicted load</a:t>
            </a:r>
            <a:endParaRPr b="0" lang="en-US" sz="2400" spc="-1" strike="noStrike">
              <a:solidFill>
                <a:srgbClr val="000000"/>
              </a:solidFill>
              <a:latin typeface="Calibri"/>
            </a:endParaRPr>
          </a:p>
          <a:p>
            <a:pPr marL="228600" indent="-228600">
              <a:lnSpc>
                <a:spcPct val="9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0000"/>
                </a:solidFill>
                <a:latin typeface="Times New Roman"/>
                <a:ea typeface="Times New Roman"/>
              </a:rPr>
              <a:t>current number of running pods</a:t>
            </a:r>
            <a:endParaRPr b="0" lang="en-US" sz="2400" spc="-1" strike="noStrike">
              <a:solidFill>
                <a:srgbClr val="000000"/>
              </a:solidFill>
              <a:latin typeface="Calibri"/>
            </a:endParaRPr>
          </a:p>
          <a:p>
            <a:pPr marL="228600" indent="-228600">
              <a:lnSpc>
                <a:spcPct val="9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0000"/>
                </a:solidFill>
                <a:latin typeface="Times New Roman"/>
                <a:ea typeface="Times New Roman"/>
              </a:rPr>
              <a:t>cost per additional pod (for example, ₹X/hour)</a:t>
            </a:r>
            <a:endParaRPr b="0" lang="en-US" sz="2400" spc="-1" strike="noStrike">
              <a:solidFill>
                <a:srgbClr val="000000"/>
              </a:solidFill>
              <a:latin typeface="Calibri"/>
            </a:endParaRPr>
          </a:p>
          <a:p>
            <a:pPr marL="228600" indent="-228600">
              <a:lnSpc>
                <a:spcPct val="9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0000"/>
                </a:solidFill>
                <a:latin typeface="Times New Roman"/>
                <a:ea typeface="Times New Roman"/>
              </a:rPr>
              <a:t>prediction confidence (the width of the forecast range)</a:t>
            </a:r>
            <a:endParaRPr b="0" lang="en-US" sz="2400" spc="-1" strike="noStrike">
              <a:solidFill>
                <a:srgbClr val="000000"/>
              </a:solidFill>
              <a:latin typeface="Calibri"/>
            </a:endParaRPr>
          </a:p>
        </p:txBody>
      </p:sp>
      <p:sp>
        <p:nvSpPr>
          <p:cNvPr id="47" name="Slide Number Placeholder 7"/>
          <p:cNvSpPr/>
          <p:nvPr/>
        </p:nvSpPr>
        <p:spPr>
          <a:xfrm>
            <a:off x="8610480" y="6356520"/>
            <a:ext cx="2743200" cy="36504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10221A1-2C57-4C28-8CEF-BAA78C760856}" type="slidenum">
              <a:rPr b="0" lang="en-IN" sz="1200" spc="-1" strike="noStrike">
                <a:solidFill>
                  <a:srgbClr val="898989"/>
                </a:solidFill>
                <a:latin typeface="Calibri"/>
              </a:rPr>
              <a:t>&lt;number&gt;</a:t>
            </a:fld>
            <a:endParaRPr b="0" lang="en-US" sz="1200" spc="-1" strike="noStrike">
              <a:solidFill>
                <a:srgbClr val="000000"/>
              </a:solidFill>
              <a:latin typeface="Arial"/>
            </a:endParaRPr>
          </a:p>
        </p:txBody>
      </p:sp>
      <p:sp>
        <p:nvSpPr>
          <p:cNvPr id="48" name="Footer Placeholder 8"/>
          <p:cNvSpPr/>
          <p:nvPr/>
        </p:nvSpPr>
        <p:spPr>
          <a:xfrm>
            <a:off x="4038480" y="6356520"/>
            <a:ext cx="4114800" cy="365040"/>
          </a:xfrm>
          <a:prstGeom prst="rect">
            <a:avLst/>
          </a:prstGeom>
          <a:noFill/>
          <a:ln w="0">
            <a:noFill/>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898989"/>
                </a:solidFill>
                <a:latin typeface="Calibri"/>
              </a:rPr>
              <a:t>Dept of CSE,ACET                     2025-26</a:t>
            </a:r>
            <a:endParaRPr b="0" lang="en-US" sz="12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898989"/>
                </a:solidFill>
                <a:latin typeface="Calibri"/>
              </a:rPr>
              <a:t>                                                                                                   </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 name=""/>
          <p:cNvSpPr txBox="1"/>
          <p:nvPr/>
        </p:nvSpPr>
        <p:spPr>
          <a:xfrm>
            <a:off x="838080" y="378000"/>
            <a:ext cx="10515600" cy="5798880"/>
          </a:xfrm>
          <a:prstGeom prst="rect">
            <a:avLst/>
          </a:prstGeom>
          <a:noFill/>
          <a:ln w="0">
            <a:noFill/>
          </a:ln>
        </p:spPr>
        <p:txBody>
          <a:bodyPr anchor="t">
            <a:normAutofit/>
          </a:bodyPr>
          <a:p>
            <a:pPr marL="228600" indent="-228600">
              <a:lnSpc>
                <a:spcPct val="9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0000"/>
                </a:solidFill>
                <a:latin typeface="Times New Roman"/>
                <a:ea typeface="Times New Roman"/>
              </a:rPr>
              <a:t>Output is the number of pods to run. One possible design is to compute the pods needed to serve the predicted load within a safe CPU target, then add a safety margin that grows when the forecast is uncertain and shrinks when it is confident. The margin is weighed against the pod cost, so the layer does not over-provision. Exact rules should be settled during implementation.</a:t>
            </a:r>
            <a:endParaRPr b="0" lang="en-US" sz="2400" spc="-1" strike="noStrike">
              <a:solidFill>
                <a:srgbClr val="000000"/>
              </a:solidFill>
              <a:latin typeface="Calibri"/>
            </a:endParaRPr>
          </a:p>
          <a:p>
            <a:pPr marL="228600" indent="-228600">
              <a:lnSpc>
                <a:spcPct val="9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pc="-1" strike="noStrike">
                <a:solidFill>
                  <a:srgbClr val="000000"/>
                </a:solidFill>
                <a:latin typeface="Times New Roman"/>
                <a:ea typeface="Times New Roman"/>
              </a:rPr>
              <a:t>c) Evaluation dashboard.</a:t>
            </a:r>
            <a:r>
              <a:rPr b="0" lang="en-US" sz="2400" spc="-1" strike="noStrike">
                <a:solidFill>
                  <a:srgbClr val="000000"/>
                </a:solidFill>
                <a:latin typeface="Times New Roman"/>
                <a:ea typeface="Times New Roman"/>
              </a:rPr>
              <a:t> Prometheus collects pod count, CPU and request metrics, and Grafana plots pod count, load, and cost over time. It compares three strategies:</a:t>
            </a:r>
            <a:endParaRPr b="0" lang="en-US" sz="2400" spc="-1" strike="noStrike">
              <a:solidFill>
                <a:srgbClr val="000000"/>
              </a:solidFill>
              <a:latin typeface="Calibri"/>
            </a:endParaRPr>
          </a:p>
          <a:p>
            <a:pPr marL="228600" indent="-228600">
              <a:lnSpc>
                <a:spcPct val="9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0000"/>
                </a:solidFill>
                <a:latin typeface="Times New Roman"/>
                <a:ea typeface="Times New Roman"/>
              </a:rPr>
              <a:t>Default reactive HPA (baseline)</a:t>
            </a:r>
            <a:endParaRPr b="0" lang="en-US" sz="2400" spc="-1" strike="noStrike">
              <a:solidFill>
                <a:srgbClr val="000000"/>
              </a:solidFill>
              <a:latin typeface="Calibri"/>
            </a:endParaRPr>
          </a:p>
          <a:p>
            <a:pPr marL="228600" indent="-228600">
              <a:lnSpc>
                <a:spcPct val="9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0000"/>
                </a:solidFill>
                <a:latin typeface="Times New Roman"/>
                <a:ea typeface="Times New Roman"/>
              </a:rPr>
              <a:t>Simple ML-predictive scaling (existing approach)</a:t>
            </a:r>
            <a:endParaRPr b="0" lang="en-US" sz="2400" spc="-1" strike="noStrike">
              <a:solidFill>
                <a:srgbClr val="000000"/>
              </a:solidFill>
              <a:latin typeface="Calibri"/>
            </a:endParaRPr>
          </a:p>
          <a:p>
            <a:pPr marL="228600" indent="-228600">
              <a:lnSpc>
                <a:spcPct val="9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0000"/>
                </a:solidFill>
                <a:latin typeface="Times New Roman"/>
                <a:ea typeface="Times New Roman"/>
              </a:rPr>
              <a:t>Cost-aware predictive scaling (our contribution)</a:t>
            </a:r>
            <a:endParaRPr b="0" lang="en-US" sz="2400" spc="-1" strike="noStrike">
              <a:solidFill>
                <a:srgbClr val="000000"/>
              </a:solidFill>
              <a:latin typeface="Calibri"/>
            </a:endParaRPr>
          </a:p>
          <a:p>
            <a:pPr marL="228600" indent="-228600">
              <a:lnSpc>
                <a:spcPct val="9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pc="-1" strike="noStrike">
                <a:solidFill>
                  <a:srgbClr val="000000"/>
                </a:solidFill>
                <a:latin typeface="Times New Roman"/>
                <a:ea typeface="Times New Roman"/>
              </a:rPr>
              <a:t>Evaluation metrics.</a:t>
            </a:r>
            <a:r>
              <a:rPr b="0" lang="en-US" sz="2400" spc="-1" strike="noStrike">
                <a:solidFill>
                  <a:srgbClr val="000000"/>
                </a:solidFill>
                <a:latin typeface="Times New Roman"/>
                <a:ea typeface="Times New Roman"/>
              </a:rPr>
              <a:t> Time above the CPU or latency target (SLO violation), average pods, total pod-hours cost, and scaling lag during spikes.</a:t>
            </a:r>
            <a:endParaRPr b="0" lang="en-US" sz="2400" spc="-1" strike="noStrike">
              <a:solidFill>
                <a:srgbClr val="000000"/>
              </a:solidFill>
              <a:latin typeface="Calibri"/>
            </a:endParaRPr>
          </a:p>
          <a:p>
            <a:pPr marL="228600" indent="-228600">
              <a:lnSpc>
                <a:spcPct val="9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pc="-1" strike="noStrike">
                <a:solidFill>
                  <a:srgbClr val="000000"/>
                </a:solidFill>
                <a:latin typeface="Times New Roman"/>
                <a:ea typeface="Times New Roman"/>
              </a:rPr>
              <a:t>Tooling.</a:t>
            </a:r>
            <a:r>
              <a:rPr b="0" lang="en-US" sz="2400" spc="-1" strike="noStrike">
                <a:solidFill>
                  <a:srgbClr val="000000"/>
                </a:solidFill>
                <a:latin typeface="Times New Roman"/>
                <a:ea typeface="Times New Roman"/>
              </a:rPr>
              <a:t> Kubernetes (for example Azure AKS or a local cluster), k6, Prometheus, Grafana, and Python for forecasting</a:t>
            </a:r>
            <a:endParaRPr b="0" lang="en-US" sz="2400" spc="-1" strike="noStrike">
              <a:solidFill>
                <a:srgbClr val="000000"/>
              </a:solidFill>
              <a:latin typeface="Calibri"/>
            </a:endParaRPr>
          </a:p>
        </p:txBody>
      </p:sp>
      <p:sp>
        <p:nvSpPr>
          <p:cNvPr id="50" name="Slide Number Placeholder 7"/>
          <p:cNvSpPr/>
          <p:nvPr/>
        </p:nvSpPr>
        <p:spPr>
          <a:xfrm>
            <a:off x="8610480" y="6356520"/>
            <a:ext cx="2743200" cy="36504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26D0D35-EF52-4B0D-A27A-7313B86069F6}" type="slidenum">
              <a:rPr b="0" lang="en-IN" sz="1200" spc="-1" strike="noStrike">
                <a:solidFill>
                  <a:srgbClr val="898989"/>
                </a:solidFill>
                <a:latin typeface="Calibri"/>
              </a:rPr>
              <a:t>&lt;number&gt;</a:t>
            </a:fld>
            <a:endParaRPr b="0" lang="en-US" sz="1200" spc="-1" strike="noStrike">
              <a:solidFill>
                <a:srgbClr val="000000"/>
              </a:solidFill>
              <a:latin typeface="Arial"/>
            </a:endParaRPr>
          </a:p>
        </p:txBody>
      </p:sp>
      <p:sp>
        <p:nvSpPr>
          <p:cNvPr id="51" name="Footer Placeholder 3"/>
          <p:cNvSpPr/>
          <p:nvPr/>
        </p:nvSpPr>
        <p:spPr>
          <a:xfrm>
            <a:off x="4038480" y="6356520"/>
            <a:ext cx="4114800" cy="365040"/>
          </a:xfrm>
          <a:prstGeom prst="rect">
            <a:avLst/>
          </a:prstGeom>
          <a:noFill/>
          <a:ln w="0">
            <a:noFill/>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898989"/>
                </a:solidFill>
                <a:latin typeface="Calibri"/>
              </a:rPr>
              <a:t>Dept of CSE,ACET                     2025-26</a:t>
            </a:r>
            <a:endParaRPr b="0" lang="en-US" sz="12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898989"/>
                </a:solidFill>
                <a:latin typeface="Calibri"/>
              </a:rPr>
              <a:t>                                                                                                         </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 name="PlaceHolder 1"/>
          <p:cNvSpPr>
            <a:spLocks noGrp="1"/>
          </p:cNvSpPr>
          <p:nvPr>
            <p:ph type="title"/>
          </p:nvPr>
        </p:nvSpPr>
        <p:spPr>
          <a:xfrm>
            <a:off x="838080" y="365040"/>
            <a:ext cx="10515600" cy="1325520"/>
          </a:xfrm>
          <a:prstGeom prst="rect">
            <a:avLst/>
          </a:prstGeom>
          <a:noFill/>
          <a:ln w="0">
            <a:noFill/>
          </a:ln>
        </p:spPr>
        <p:txBody>
          <a:bodyPr lIns="91440" rIns="91440" tIns="45720" bIns="45720" anchor="ctr">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400" spc="-1" strike="noStrike">
                <a:solidFill>
                  <a:srgbClr val="000000"/>
                </a:solidFill>
                <a:latin typeface="Times New Roman"/>
                <a:ea typeface="Times New Roman"/>
              </a:rPr>
              <a:t>Sample : Architecture </a:t>
            </a:r>
            <a:endParaRPr b="0" lang="en-US" sz="4400" spc="-1" strike="noStrike">
              <a:solidFill>
                <a:srgbClr val="000000"/>
              </a:solidFill>
              <a:latin typeface="Calibri Light"/>
            </a:endParaRPr>
          </a:p>
        </p:txBody>
      </p:sp>
      <p:sp>
        <p:nvSpPr>
          <p:cNvPr id="53" name="Slide Number Placeholder 7"/>
          <p:cNvSpPr/>
          <p:nvPr/>
        </p:nvSpPr>
        <p:spPr>
          <a:xfrm>
            <a:off x="8610480" y="6356520"/>
            <a:ext cx="2743200" cy="36504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C4D295D-EDE2-4AE2-ACC6-25287229BD66}" type="slidenum">
              <a:rPr b="0" lang="en-IN" sz="1200" spc="-1" strike="noStrike">
                <a:solidFill>
                  <a:srgbClr val="898989"/>
                </a:solidFill>
                <a:latin typeface="Calibri"/>
              </a:rPr>
              <a:t>&lt;number&gt;</a:t>
            </a:fld>
            <a:endParaRPr b="0" lang="en-US" sz="1200" spc="-1" strike="noStrike">
              <a:solidFill>
                <a:srgbClr val="000000"/>
              </a:solidFill>
              <a:latin typeface="Arial"/>
            </a:endParaRPr>
          </a:p>
        </p:txBody>
      </p:sp>
      <p:sp>
        <p:nvSpPr>
          <p:cNvPr id="54" name="Footer Placeholder 3"/>
          <p:cNvSpPr/>
          <p:nvPr/>
        </p:nvSpPr>
        <p:spPr>
          <a:xfrm>
            <a:off x="4038480" y="6356520"/>
            <a:ext cx="4114800" cy="365040"/>
          </a:xfrm>
          <a:prstGeom prst="rect">
            <a:avLst/>
          </a:prstGeom>
          <a:noFill/>
          <a:ln w="0">
            <a:noFill/>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898989"/>
                </a:solidFill>
                <a:latin typeface="Calibri"/>
              </a:rPr>
              <a:t>Dept of CSE,ACET                     2025-26</a:t>
            </a:r>
            <a:endParaRPr b="0" lang="en-US" sz="1200" spc="-1" strike="noStrike">
              <a:solidFill>
                <a:srgbClr val="000000"/>
              </a:solidFill>
              <a:latin typeface="Arial"/>
            </a:endParaRPr>
          </a:p>
        </p:txBody>
      </p:sp>
      <p:pic>
        <p:nvPicPr>
          <p:cNvPr id="55" name="Picture 1" descr=""/>
          <p:cNvPicPr/>
          <p:nvPr/>
        </p:nvPicPr>
        <p:blipFill>
          <a:blip r:embed="rId1"/>
          <a:stretch/>
        </p:blipFill>
        <p:spPr>
          <a:xfrm>
            <a:off x="334800" y="1427040"/>
            <a:ext cx="10058400" cy="4434120"/>
          </a:xfrm>
          <a:prstGeom prst="rect">
            <a:avLst/>
          </a:prstGeom>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 name="PlaceHolder 1"/>
          <p:cNvSpPr>
            <a:spLocks noGrp="1"/>
          </p:cNvSpPr>
          <p:nvPr>
            <p:ph type="title"/>
          </p:nvPr>
        </p:nvSpPr>
        <p:spPr>
          <a:xfrm>
            <a:off x="838080" y="365040"/>
            <a:ext cx="10515600" cy="1325520"/>
          </a:xfrm>
          <a:prstGeom prst="rect">
            <a:avLst/>
          </a:prstGeom>
          <a:noFill/>
          <a:ln w="0">
            <a:noFill/>
          </a:ln>
        </p:spPr>
        <p:txBody>
          <a:bodyPr lIns="91440" rIns="91440" tIns="45720" bIns="45720" anchor="ctr">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400" spc="-1" strike="noStrike">
                <a:solidFill>
                  <a:srgbClr val="000000"/>
                </a:solidFill>
                <a:latin typeface="Times New Roman"/>
                <a:ea typeface="Times New Roman"/>
              </a:rPr>
              <a:t>Conclusions</a:t>
            </a:r>
            <a:endParaRPr b="0" lang="en-US" sz="4400" spc="-1" strike="noStrike">
              <a:solidFill>
                <a:srgbClr val="000000"/>
              </a:solidFill>
              <a:latin typeface="Calibri Light"/>
            </a:endParaRPr>
          </a:p>
        </p:txBody>
      </p:sp>
      <p:sp>
        <p:nvSpPr>
          <p:cNvPr id="57" name=""/>
          <p:cNvSpPr txBox="1"/>
          <p:nvPr/>
        </p:nvSpPr>
        <p:spPr>
          <a:xfrm>
            <a:off x="838080" y="1825200"/>
            <a:ext cx="10515600" cy="4351320"/>
          </a:xfrm>
          <a:prstGeom prst="rect">
            <a:avLst/>
          </a:prstGeom>
          <a:noFill/>
          <a:ln w="0">
            <a:noFill/>
          </a:ln>
        </p:spPr>
        <p:txBody>
          <a:bodyPr anchor="t">
            <a:normAutofit/>
          </a:bodyPr>
          <a:p>
            <a:pPr marL="228600" indent="-228600" algn="just">
              <a:lnSpc>
                <a:spcPct val="9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000000"/>
                </a:solidFill>
                <a:latin typeface="Times New Roman"/>
                <a:ea typeface="Times New Roman"/>
              </a:rPr>
              <a:t>Reactive HPA leaves users exposed during sudden spikes, and existing predictive autoscalers mostly ignore the cost side of the decision. This project proposes a forecasting module with a cost-aware decision layer that turns a prediction and its confidence into a specific pod count. Its aim is to balance performance and cost in an explainable way. Once experiments are complete, this section should state the measured savings and SLO results against HPA and simple predictive scaling, along with limitations such as synthetic data and a small test cluster.</a:t>
            </a:r>
            <a:endParaRPr b="0" lang="en-US" sz="2800" spc="-1" strike="noStrike">
              <a:solidFill>
                <a:srgbClr val="000000"/>
              </a:solidFill>
              <a:latin typeface="Calibri"/>
            </a:endParaRPr>
          </a:p>
        </p:txBody>
      </p:sp>
      <p:sp>
        <p:nvSpPr>
          <p:cNvPr id="58" name="Slide Number Placeholder 7"/>
          <p:cNvSpPr/>
          <p:nvPr/>
        </p:nvSpPr>
        <p:spPr>
          <a:xfrm>
            <a:off x="8610480" y="6356520"/>
            <a:ext cx="2743200" cy="36504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D473703-4007-4F46-BCB3-F823A94F2BBC}" type="slidenum">
              <a:rPr b="0" lang="en-IN" sz="1200" spc="-1" strike="noStrike">
                <a:solidFill>
                  <a:srgbClr val="898989"/>
                </a:solidFill>
                <a:latin typeface="Calibri"/>
              </a:rPr>
              <a:t>&lt;number&gt;</a:t>
            </a:fld>
            <a:endParaRPr b="0" lang="en-US" sz="1200" spc="-1" strike="noStrike">
              <a:solidFill>
                <a:srgbClr val="000000"/>
              </a:solidFill>
              <a:latin typeface="Arial"/>
            </a:endParaRPr>
          </a:p>
        </p:txBody>
      </p:sp>
      <p:sp>
        <p:nvSpPr>
          <p:cNvPr id="59" name="Footer Placeholder 3"/>
          <p:cNvSpPr/>
          <p:nvPr/>
        </p:nvSpPr>
        <p:spPr>
          <a:xfrm>
            <a:off x="4038480" y="6356520"/>
            <a:ext cx="4114800" cy="365040"/>
          </a:xfrm>
          <a:prstGeom prst="rect">
            <a:avLst/>
          </a:prstGeom>
          <a:noFill/>
          <a:ln w="0">
            <a:noFill/>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898989"/>
                </a:solidFill>
                <a:latin typeface="Calibri"/>
              </a:rPr>
              <a:t>Dept of CSE,ACET                     2025-26</a:t>
            </a:r>
            <a:endParaRPr b="0" lang="en-US" sz="12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898989"/>
                </a:solidFill>
                <a:latin typeface="Calibri"/>
              </a:rPr>
              <a:t>                                                                                                        </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
          <p:cNvSpPr txBox="1"/>
          <p:nvPr/>
        </p:nvSpPr>
        <p:spPr>
          <a:xfrm>
            <a:off x="657360" y="264600"/>
            <a:ext cx="10515600" cy="5781960"/>
          </a:xfrm>
          <a:prstGeom prst="rect">
            <a:avLst/>
          </a:prstGeom>
          <a:noFill/>
          <a:ln w="0">
            <a:noFill/>
          </a:ln>
        </p:spPr>
        <p:txBody>
          <a:bodyPr anchor="t">
            <a:normAutofit/>
          </a:bodyPr>
          <a:p>
            <a:pPr algn="ctr">
              <a:lnSpc>
                <a:spcPct val="9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7200" spc="-1" strike="noStrike">
              <a:solidFill>
                <a:srgbClr val="000000"/>
              </a:solidFill>
              <a:latin typeface="Calibri"/>
            </a:endParaRPr>
          </a:p>
          <a:p>
            <a:pPr algn="ctr">
              <a:lnSpc>
                <a:spcPct val="9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7200" spc="-1" strike="noStrike">
              <a:solidFill>
                <a:srgbClr val="000000"/>
              </a:solidFill>
              <a:latin typeface="Calibri"/>
            </a:endParaRPr>
          </a:p>
          <a:p>
            <a:pPr algn="ctr">
              <a:lnSpc>
                <a:spcPct val="9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7200" spc="-1" strike="noStrike">
                <a:solidFill>
                  <a:srgbClr val="000000"/>
                </a:solidFill>
                <a:latin typeface="Times New Roman"/>
                <a:ea typeface="Times New Roman"/>
              </a:rPr>
              <a:t>Thank You</a:t>
            </a:r>
            <a:endParaRPr b="0" lang="en-US" sz="7200" spc="-1" strike="noStrike">
              <a:solidFill>
                <a:srgbClr val="000000"/>
              </a:solidFill>
              <a:latin typeface="Calibri"/>
            </a:endParaRPr>
          </a:p>
        </p:txBody>
      </p:sp>
      <p:sp>
        <p:nvSpPr>
          <p:cNvPr id="61" name="Slide Number Placeholder 7"/>
          <p:cNvSpPr/>
          <p:nvPr/>
        </p:nvSpPr>
        <p:spPr>
          <a:xfrm>
            <a:off x="8610480" y="6356520"/>
            <a:ext cx="2743200" cy="36504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42C9F7F-8114-4635-8F58-E6E40CE6768E}" type="slidenum">
              <a:rPr b="0" lang="en-IN" sz="1200" spc="-1" strike="noStrike">
                <a:solidFill>
                  <a:srgbClr val="898989"/>
                </a:solidFill>
                <a:latin typeface="Calibri"/>
              </a:rPr>
              <a:t>&lt;number&gt;</a:t>
            </a:fld>
            <a:endParaRPr b="0" lang="en-US" sz="1200" spc="-1" strike="noStrike">
              <a:solidFill>
                <a:srgbClr val="000000"/>
              </a:solidFill>
              <a:latin typeface="Arial"/>
            </a:endParaRPr>
          </a:p>
        </p:txBody>
      </p:sp>
      <p:sp>
        <p:nvSpPr>
          <p:cNvPr id="62" name="Footer Placeholder 3"/>
          <p:cNvSpPr/>
          <p:nvPr/>
        </p:nvSpPr>
        <p:spPr>
          <a:xfrm>
            <a:off x="4038480" y="6356520"/>
            <a:ext cx="4114800" cy="365040"/>
          </a:xfrm>
          <a:prstGeom prst="rect">
            <a:avLst/>
          </a:prstGeom>
          <a:noFill/>
          <a:ln w="0">
            <a:noFill/>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898989"/>
                </a:solidFill>
                <a:latin typeface="Calibri"/>
              </a:rPr>
              <a:t>Dept of CSE,ACET                     2025-26</a:t>
            </a:r>
            <a:endParaRPr b="0" lang="en-US" sz="12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898989"/>
                </a:solidFill>
                <a:latin typeface="Calibri"/>
              </a:rPr>
              <a:t>                                                                                                     </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 name="PlaceHolder 1"/>
          <p:cNvSpPr>
            <a:spLocks noGrp="1"/>
          </p:cNvSpPr>
          <p:nvPr>
            <p:ph type="title"/>
          </p:nvPr>
        </p:nvSpPr>
        <p:spPr>
          <a:xfrm>
            <a:off x="838080" y="365040"/>
            <a:ext cx="10515600" cy="1325520"/>
          </a:xfrm>
          <a:prstGeom prst="rect">
            <a:avLst/>
          </a:prstGeom>
          <a:noFill/>
          <a:ln w="0">
            <a:noFill/>
          </a:ln>
        </p:spPr>
        <p:txBody>
          <a:bodyPr lIns="91440" rIns="91440" tIns="45720" bIns="45720" anchor="ctr">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400" spc="-1" strike="noStrike">
                <a:solidFill>
                  <a:srgbClr val="000000"/>
                </a:solidFill>
                <a:latin typeface="Times New Roman"/>
                <a:ea typeface="Times New Roman"/>
              </a:rPr>
              <a:t>References</a:t>
            </a:r>
            <a:endParaRPr b="0" lang="en-US" sz="4400" spc="-1" strike="noStrike">
              <a:solidFill>
                <a:srgbClr val="000000"/>
              </a:solidFill>
              <a:latin typeface="Calibri Light"/>
            </a:endParaRPr>
          </a:p>
        </p:txBody>
      </p:sp>
      <p:sp>
        <p:nvSpPr>
          <p:cNvPr id="57" name=""/>
          <p:cNvSpPr txBox="1"/>
          <p:nvPr/>
        </p:nvSpPr>
        <p:spPr>
          <a:xfrm>
            <a:off x="838080" y="1600200"/>
            <a:ext cx="10515600" cy="4700000"/>
          </a:xfrm>
          <a:prstGeom prst="rect">
            <a:avLst/>
          </a:prstGeom>
          <a:noFill/>
          <a:ln w="0">
            <a:noFill/>
          </a:ln>
        </p:spPr>
        <p:txBody>
          <a:bodyPr anchor="t">
            <a:normAutofit/>
          </a:bodyPr>
          <a:p>
            <a:pPr marL="342900" indent="-342900" algn="l">
              <a:lnSpc>
                <a:spcPct val="90000"/>
              </a:lnSpc>
              <a:spcBef>
                <a:spcPts val="500"/>
              </a:spcBef>
              <a:buClr>
                <a:srgbClr val="000000"/>
              </a:buClr>
              <a:buFont typeface="+mj-lt"/>
              <a:buAutoNum type="arabicPeriod"/>
            </a:pPr>
            <a:r>
              <a:rPr b="0" lang="en-US" sz="1500" spc="-1" strike="noStrike">
                <a:solidFill>
                  <a:srgbClr val="000000"/>
                </a:solidFill>
                <a:latin typeface="Times New Roman"/>
                <a:ea typeface="Times New Roman"/>
              </a:rPr>
              <a:t>Y. M. Abdelhamid, W. A. Aziz and J. N. Soliman, “Kubernetes Autoscaling with Machine Learning based on Traffic Load Prediction,” ResearchGate, 2025.</a:t>
            </a:r>
          </a:p>
          <a:p>
            <a:pPr marL="342900" indent="-342900" algn="l">
              <a:lnSpc>
                <a:spcPct val="90000"/>
              </a:lnSpc>
              <a:spcBef>
                <a:spcPts val="500"/>
              </a:spcBef>
              <a:buClr>
                <a:srgbClr val="000000"/>
              </a:buClr>
              <a:buFont typeface="+mj-lt"/>
              <a:buAutoNum type="arabicPeriod"/>
            </a:pPr>
            <a:r>
              <a:rPr b="0" lang="en-US" sz="1500" spc="-1" strike="noStrike">
                <a:solidFill>
                  <a:srgbClr val="000000"/>
                </a:solidFill>
                <a:latin typeface="Times New Roman"/>
                <a:ea typeface="Times New Roman"/>
              </a:rPr>
              <a:t>P. B. Guruge and Y. H. P. P. Priyadarshana, “Time Series Forecasting-Based Kubernetes Autoscaling Using Facebook Prophet and Long Short-Term Memory,” Frontiers in Computer Science, vol. 7, Art. 1509165, 2025.</a:t>
            </a:r>
          </a:p>
          <a:p>
            <a:pPr marL="342900" indent="-342900" algn="l">
              <a:lnSpc>
                <a:spcPct val="90000"/>
              </a:lnSpc>
              <a:spcBef>
                <a:spcPts val="500"/>
              </a:spcBef>
              <a:buClr>
                <a:srgbClr val="000000"/>
              </a:buClr>
              <a:buFont typeface="+mj-lt"/>
              <a:buAutoNum type="arabicPeriod"/>
            </a:pPr>
            <a:r>
              <a:rPr b="0" lang="en-US" sz="1500" spc="-1" strike="noStrike">
                <a:solidFill>
                  <a:srgbClr val="000000"/>
                </a:solidFill>
                <a:latin typeface="Times New Roman"/>
                <a:ea typeface="Times New Roman"/>
              </a:rPr>
              <a:t>G. Zhang et al., “AAPA: An Archetype-Aware Predictive Autoscaler with Uncertainty Quantification for Serverless Workloads on Kubernetes,” arXiv:2507.05653, 2025.</a:t>
            </a:r>
          </a:p>
          <a:p>
            <a:pPr marL="342900" indent="-342900" algn="l">
              <a:lnSpc>
                <a:spcPct val="90000"/>
              </a:lnSpc>
              <a:spcBef>
                <a:spcPts val="500"/>
              </a:spcBef>
              <a:buClr>
                <a:srgbClr val="000000"/>
              </a:buClr>
              <a:buFont typeface="+mj-lt"/>
              <a:buAutoNum type="arabicPeriod"/>
            </a:pPr>
            <a:r>
              <a:rPr b="0" lang="en-US" sz="1500" spc="-1" strike="noStrike">
                <a:solidFill>
                  <a:srgbClr val="000000"/>
                </a:solidFill>
                <a:latin typeface="Times New Roman"/>
                <a:ea typeface="Times New Roman"/>
              </a:rPr>
              <a:t>V. Punniyamoorthy et al., “An SLO Driven and Cost-Aware Autoscaling Framework for Kubernetes,” arXiv:2512.23415, 2025.</a:t>
            </a:r>
          </a:p>
          <a:p>
            <a:pPr marL="342900" indent="-342900" algn="l">
              <a:lnSpc>
                <a:spcPct val="90000"/>
              </a:lnSpc>
              <a:spcBef>
                <a:spcPts val="500"/>
              </a:spcBef>
              <a:buClr>
                <a:srgbClr val="000000"/>
              </a:buClr>
              <a:buFont typeface="+mj-lt"/>
              <a:buAutoNum type="arabicPeriod"/>
            </a:pPr>
            <a:r>
              <a:rPr b="0" lang="en-US" sz="1500" spc="-1" strike="noStrike">
                <a:solidFill>
                  <a:srgbClr val="000000"/>
                </a:solidFill>
                <a:latin typeface="Times New Roman"/>
                <a:ea typeface="Times New Roman"/>
              </a:rPr>
              <a:t>G. Vietri et al., “Driving Cache Replacement with ML-based LeCaR,” in Proc. USENIX HotStorage, 2018.</a:t>
            </a:r>
          </a:p>
          <a:p>
            <a:pPr marL="342900" indent="-342900" algn="l">
              <a:lnSpc>
                <a:spcPct val="90000"/>
              </a:lnSpc>
              <a:spcBef>
                <a:spcPts val="500"/>
              </a:spcBef>
              <a:buClr>
                <a:srgbClr val="000000"/>
              </a:buClr>
              <a:buFont typeface="+mj-lt"/>
              <a:buAutoNum type="arabicPeriod"/>
            </a:pPr>
            <a:r>
              <a:rPr b="0" lang="en-US" sz="1500" spc="-1" strike="noStrike">
                <a:solidFill>
                  <a:srgbClr val="000000"/>
                </a:solidFill>
                <a:latin typeface="Times New Roman"/>
                <a:ea typeface="Times New Roman"/>
              </a:rPr>
              <a:t>Z. Song, D. S. Berger, K. Li and W. Lloyd, “Learning Relaxed Belady for Content Distribution Network Caching,” in Proc. USENIX NSDI, 2020.</a:t>
            </a:r>
          </a:p>
          <a:p>
            <a:pPr marL="342900" indent="-342900" algn="l">
              <a:lnSpc>
                <a:spcPct val="90000"/>
              </a:lnSpc>
              <a:spcBef>
                <a:spcPts val="500"/>
              </a:spcBef>
              <a:buClr>
                <a:srgbClr val="000000"/>
              </a:buClr>
              <a:buFont typeface="+mj-lt"/>
              <a:buAutoNum type="arabicPeriod"/>
            </a:pPr>
            <a:r>
              <a:rPr b="0" lang="en-US" sz="1500" spc="-1" strike="noStrike">
                <a:solidFill>
                  <a:srgbClr val="000000"/>
                </a:solidFill>
                <a:latin typeface="Times New Roman"/>
                <a:ea typeface="Times New Roman"/>
              </a:rPr>
              <a:t>S. J. Taylor and B. Letham, “Forecasting at Scale,” The American Statistician, vol. 72, no. 1, pp. 37–45, 2018.</a:t>
            </a:r>
          </a:p>
          <a:p>
            <a:pPr marL="342900" indent="-342900" algn="l">
              <a:lnSpc>
                <a:spcPct val="90000"/>
              </a:lnSpc>
              <a:spcBef>
                <a:spcPts val="500"/>
              </a:spcBef>
              <a:buClr>
                <a:srgbClr val="000000"/>
              </a:buClr>
              <a:buFont typeface="+mj-lt"/>
              <a:buAutoNum type="arabicPeriod"/>
            </a:pPr>
            <a:r>
              <a:rPr b="0" lang="en-US" sz="1500" spc="-1" strike="noStrike">
                <a:solidFill>
                  <a:srgbClr val="000000"/>
                </a:solidFill>
                <a:latin typeface="Times New Roman"/>
                <a:ea typeface="Times New Roman"/>
              </a:rPr>
              <a:t>S. Hochreiter and J. Schmidhuber, “Long Short-Term Memory,” Neural Computation, vol. 9, no. 8, pp. 1735–1780, 1997.</a:t>
            </a:r>
          </a:p>
          <a:p>
            <a:pPr marL="342900" indent="-342900" algn="l">
              <a:lnSpc>
                <a:spcPct val="90000"/>
              </a:lnSpc>
              <a:spcBef>
                <a:spcPts val="500"/>
              </a:spcBef>
              <a:buClr>
                <a:srgbClr val="000000"/>
              </a:buClr>
              <a:buFont typeface="+mj-lt"/>
              <a:buAutoNum type="arabicPeriod"/>
            </a:pPr>
            <a:r>
              <a:rPr b="0" lang="en-US" sz="1500" spc="-1" strike="noStrike">
                <a:solidFill>
                  <a:srgbClr val="000000"/>
                </a:solidFill>
                <a:latin typeface="Times New Roman"/>
                <a:ea typeface="Times New Roman"/>
              </a:rPr>
              <a:t>B. Burns, B. Grant, D. Oppenheimer, E. Brewer and J. Wilkes, “Borg, Omega, and Kubernetes,” ACM Queue, vol. 14, no. 1, pp. 70–93, 2016.</a:t>
            </a:r>
          </a:p>
          <a:p>
            <a:pPr marL="342900" indent="-342900" algn="l">
              <a:lnSpc>
                <a:spcPct val="90000"/>
              </a:lnSpc>
              <a:spcBef>
                <a:spcPts val="500"/>
              </a:spcBef>
              <a:buClr>
                <a:srgbClr val="000000"/>
              </a:buClr>
              <a:buFont typeface="+mj-lt"/>
              <a:buAutoNum type="arabicPeriod"/>
            </a:pPr>
            <a:r>
              <a:rPr b="0" lang="en-US" sz="1500" spc="-1" strike="noStrike">
                <a:solidFill>
                  <a:srgbClr val="000000"/>
                </a:solidFill>
                <a:latin typeface="Times New Roman"/>
                <a:ea typeface="Times New Roman"/>
              </a:rPr>
              <a:t>Kubernetes Documentation, “Horizontal Pod Autoscaling.” https://kubernetes.io/docs/tasks/run-application/horizontal-pod-autoscale/</a:t>
            </a:r>
          </a:p>
          <a:p>
            <a:pPr marL="342900" indent="-342900" algn="l">
              <a:lnSpc>
                <a:spcPct val="90000"/>
              </a:lnSpc>
              <a:spcBef>
                <a:spcPts val="500"/>
              </a:spcBef>
              <a:buClr>
                <a:srgbClr val="000000"/>
              </a:buClr>
              <a:buFont typeface="+mj-lt"/>
              <a:buAutoNum type="arabicPeriod"/>
            </a:pPr>
            <a:r>
              <a:rPr b="0" lang="en-US" sz="1500" spc="-1" strike="noStrike">
                <a:solidFill>
                  <a:srgbClr val="000000"/>
                </a:solidFill>
                <a:latin typeface="Times New Roman"/>
                <a:ea typeface="Times New Roman"/>
              </a:rPr>
              <a:t>Prometheus Documentation (https://prometheus.io/docs/) and Grafana k6 Documentation (https://grafana.com/docs/k6/).</a:t>
            </a:r>
          </a:p>
        </p:txBody>
      </p:sp>
      <p:sp>
        <p:nvSpPr>
          <p:cNvPr id="58" name="Slide Number Placeholder 7"/>
          <p:cNvSpPr/>
          <p:nvPr/>
        </p:nvSpPr>
        <p:spPr>
          <a:xfrm>
            <a:off x="8610480" y="6356520"/>
            <a:ext cx="2743200" cy="36504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D473703-4007-4F46-BCB3-F823A94F2BBC}" type="slidenum">
              <a:rPr b="0" lang="en-IN" sz="1200" spc="-1" strike="noStrike">
                <a:solidFill>
                  <a:srgbClr val="898989"/>
                </a:solidFill>
                <a:latin typeface="Calibri"/>
              </a:rPr>
              <a:t>&lt;number&gt;</a:t>
            </a:fld>
            <a:endParaRPr b="0" lang="en-US" sz="1200" spc="-1" strike="noStrike">
              <a:solidFill>
                <a:srgbClr val="000000"/>
              </a:solidFill>
              <a:latin typeface="Arial"/>
            </a:endParaRPr>
          </a:p>
        </p:txBody>
      </p:sp>
      <p:sp>
        <p:nvSpPr>
          <p:cNvPr id="59" name="Footer Placeholder 3"/>
          <p:cNvSpPr/>
          <p:nvPr/>
        </p:nvSpPr>
        <p:spPr>
          <a:xfrm>
            <a:off x="4038480" y="6356520"/>
            <a:ext cx="4114800" cy="365040"/>
          </a:xfrm>
          <a:prstGeom prst="rect">
            <a:avLst/>
          </a:prstGeom>
          <a:noFill/>
          <a:ln w="0">
            <a:noFill/>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898989"/>
                </a:solidFill>
                <a:latin typeface="Calibri"/>
              </a:rPr>
              <a:t>Dept of CSE,ACET                     2025-26</a:t>
            </a:r>
            <a:endParaRPr b="0" lang="en-US" sz="12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898989"/>
                </a:solidFill>
                <a:latin typeface="Calibri"/>
              </a:rPr>
              <a:t>                                                                                                        </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122</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2018-01-23T09:52:00Z</dcterms:created>
  <dc:creator>admin</dc:creator>
  <dc:description/>
  <dc:language>en-US</dc:language>
  <cp:lastModifiedBy>Hp</cp:lastModifiedBy>
  <dcterms:modified xsi:type="dcterms:W3CDTF">2026-09-29T16:54:58Z</dcterms:modified>
  <cp:revision>58</cp:revision>
  <dc:subject/>
  <dc:title>GLOBAL ACADEMY OF TECHNOLOGY DEPARTMENT OF COMPUTER SCIENCE AND ENGINEERING</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0x01010090EF4715D2D5B04A99FF06F064371E83</vt:lpwstr>
  </property>
  <property fmtid="{D5CDD505-2E9C-101B-9397-08002B2CF9AE}" pid="3" name="ICV">
    <vt:lpwstr>D7A7738BEA17483382BEB1FB6F88EF65_13</vt:lpwstr>
  </property>
  <property fmtid="{D5CDD505-2E9C-101B-9397-08002B2CF9AE}" pid="4" name="KSOProductBuildVer">
    <vt:lpwstr>1033-12.2.0.17119</vt:lpwstr>
  </property>
</Properties>
</file>